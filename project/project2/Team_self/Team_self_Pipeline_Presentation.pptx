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9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14630400" cy="8229600"/>
  <p:notesSz cx="14630400" cy="8229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>
      <p:cViewPr>
        <p:scale>
          <a:sx n="66" d="100"/>
          <a:sy n="66" d="100"/>
        </p:scale>
        <p:origin x="-106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ECFEEE-6800-4555-961B-AC4138248E7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54842F-13DF-4955-8515-C0A28655A1DC}">
      <dgm:prSet/>
      <dgm:spPr/>
      <dgm:t>
        <a:bodyPr/>
        <a:lstStyle/>
        <a:p>
          <a:r>
            <a:rPr lang="en-US"/>
            <a:t>This project shows how to gather, store, transform, and visualize Stockton weather data using an end-to-end data engineering pipeline. In order to obtain current and 12-month historical weather data, we incorporated the API.</a:t>
          </a:r>
        </a:p>
      </dgm:t>
    </dgm:pt>
    <dgm:pt modelId="{0672B194-A77F-4CD7-AB70-76EC4B41BA81}" type="parTrans" cxnId="{1F3D29C0-7245-4680-9123-2E0DC13C1C23}">
      <dgm:prSet/>
      <dgm:spPr/>
      <dgm:t>
        <a:bodyPr/>
        <a:lstStyle/>
        <a:p>
          <a:endParaRPr lang="en-US"/>
        </a:p>
      </dgm:t>
    </dgm:pt>
    <dgm:pt modelId="{4744277E-73BB-44C6-871E-8F744377455C}" type="sibTrans" cxnId="{1F3D29C0-7245-4680-9123-2E0DC13C1C23}">
      <dgm:prSet/>
      <dgm:spPr/>
      <dgm:t>
        <a:bodyPr/>
        <a:lstStyle/>
        <a:p>
          <a:endParaRPr lang="en-US"/>
        </a:p>
      </dgm:t>
    </dgm:pt>
    <dgm:pt modelId="{51594448-BC33-45C3-9839-B39DD46F3009}">
      <dgm:prSet/>
      <dgm:spPr/>
      <dgm:t>
        <a:bodyPr/>
        <a:lstStyle/>
        <a:p>
          <a:r>
            <a:rPr lang="en-US"/>
            <a:t>Clean daily observations are created by first storing the raw JSON data in MongoDB. After that, ClickHouse is utilized as an analytical warehouse to compile daily temperature and rainfall data.</a:t>
          </a:r>
        </a:p>
      </dgm:t>
    </dgm:pt>
    <dgm:pt modelId="{20A8A025-A305-48C6-9CDF-A4021E9B7DC8}" type="parTrans" cxnId="{82265028-B094-4C9B-9452-FCF63D932C71}">
      <dgm:prSet/>
      <dgm:spPr/>
      <dgm:t>
        <a:bodyPr/>
        <a:lstStyle/>
        <a:p>
          <a:endParaRPr lang="en-US"/>
        </a:p>
      </dgm:t>
    </dgm:pt>
    <dgm:pt modelId="{780C62DE-8BFB-4372-A2F7-2C0020AAE11D}" type="sibTrans" cxnId="{82265028-B094-4C9B-9452-FCF63D932C71}">
      <dgm:prSet/>
      <dgm:spPr/>
      <dgm:t>
        <a:bodyPr/>
        <a:lstStyle/>
        <a:p>
          <a:endParaRPr lang="en-US"/>
        </a:p>
      </dgm:t>
    </dgm:pt>
    <dgm:pt modelId="{D22D5402-67B3-46B1-B05E-5F346F5F7010}">
      <dgm:prSet/>
      <dgm:spPr/>
      <dgm:t>
        <a:bodyPr/>
        <a:lstStyle/>
        <a:p>
          <a:r>
            <a:rPr lang="en-US"/>
            <a:t>To increase dashboard speed, the aggregated data is cached in Redis, with TTL and metadata tracking. </a:t>
          </a:r>
        </a:p>
      </dgm:t>
    </dgm:pt>
    <dgm:pt modelId="{D29109A0-708D-4166-8557-A2659D74B859}" type="parTrans" cxnId="{B08E8914-36DB-459A-8C6A-CCB08A94EA3A}">
      <dgm:prSet/>
      <dgm:spPr/>
      <dgm:t>
        <a:bodyPr/>
        <a:lstStyle/>
        <a:p>
          <a:endParaRPr lang="en-US"/>
        </a:p>
      </dgm:t>
    </dgm:pt>
    <dgm:pt modelId="{B4497E82-A314-47B8-BE63-5DB445C72520}" type="sibTrans" cxnId="{B08E8914-36DB-459A-8C6A-CCB08A94EA3A}">
      <dgm:prSet/>
      <dgm:spPr/>
      <dgm:t>
        <a:bodyPr/>
        <a:lstStyle/>
        <a:p>
          <a:endParaRPr lang="en-US"/>
        </a:p>
      </dgm:t>
    </dgm:pt>
    <dgm:pt modelId="{1F9DC30B-E2A7-4BB6-9799-27BD9D738D63}" type="pres">
      <dgm:prSet presAssocID="{12ECFEEE-6800-4555-961B-AC4138248E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71492E-C48D-48C4-AC31-00206CD6B896}" type="pres">
      <dgm:prSet presAssocID="{6954842F-13DF-4955-8515-C0A28655A1DC}" presName="hierRoot1" presStyleCnt="0"/>
      <dgm:spPr/>
    </dgm:pt>
    <dgm:pt modelId="{BF9DCE8D-A4A7-42A4-9F51-57D7A561B32E}" type="pres">
      <dgm:prSet presAssocID="{6954842F-13DF-4955-8515-C0A28655A1DC}" presName="composite" presStyleCnt="0"/>
      <dgm:spPr/>
    </dgm:pt>
    <dgm:pt modelId="{E76AA311-2E0E-4045-8BE3-9A3721E8B5C5}" type="pres">
      <dgm:prSet presAssocID="{6954842F-13DF-4955-8515-C0A28655A1DC}" presName="background" presStyleLbl="node0" presStyleIdx="0" presStyleCnt="3"/>
      <dgm:spPr/>
    </dgm:pt>
    <dgm:pt modelId="{E47CD689-E9EA-4BCF-89F2-8AC32C05CD10}" type="pres">
      <dgm:prSet presAssocID="{6954842F-13DF-4955-8515-C0A28655A1DC}" presName="text" presStyleLbl="fgAcc0" presStyleIdx="0" presStyleCnt="3">
        <dgm:presLayoutVars>
          <dgm:chPref val="3"/>
        </dgm:presLayoutVars>
      </dgm:prSet>
      <dgm:spPr/>
    </dgm:pt>
    <dgm:pt modelId="{60E9AF6F-4287-4C62-92FD-E974F425B7DA}" type="pres">
      <dgm:prSet presAssocID="{6954842F-13DF-4955-8515-C0A28655A1DC}" presName="hierChild2" presStyleCnt="0"/>
      <dgm:spPr/>
    </dgm:pt>
    <dgm:pt modelId="{6EFB6B6D-9E3C-4195-A390-EE1DF4F899AC}" type="pres">
      <dgm:prSet presAssocID="{51594448-BC33-45C3-9839-B39DD46F3009}" presName="hierRoot1" presStyleCnt="0"/>
      <dgm:spPr/>
    </dgm:pt>
    <dgm:pt modelId="{542077F1-0542-4B2D-B8A7-B8C004F6714B}" type="pres">
      <dgm:prSet presAssocID="{51594448-BC33-45C3-9839-B39DD46F3009}" presName="composite" presStyleCnt="0"/>
      <dgm:spPr/>
    </dgm:pt>
    <dgm:pt modelId="{D7A596D8-AC86-4358-B2E7-084F0CF438D5}" type="pres">
      <dgm:prSet presAssocID="{51594448-BC33-45C3-9839-B39DD46F3009}" presName="background" presStyleLbl="node0" presStyleIdx="1" presStyleCnt="3"/>
      <dgm:spPr/>
    </dgm:pt>
    <dgm:pt modelId="{81EA1BA5-5D6B-4C7F-A412-AB5435D4E0B4}" type="pres">
      <dgm:prSet presAssocID="{51594448-BC33-45C3-9839-B39DD46F3009}" presName="text" presStyleLbl="fgAcc0" presStyleIdx="1" presStyleCnt="3">
        <dgm:presLayoutVars>
          <dgm:chPref val="3"/>
        </dgm:presLayoutVars>
      </dgm:prSet>
      <dgm:spPr/>
    </dgm:pt>
    <dgm:pt modelId="{89161D61-33DE-4C46-91C3-4E16DD9DD4E5}" type="pres">
      <dgm:prSet presAssocID="{51594448-BC33-45C3-9839-B39DD46F3009}" presName="hierChild2" presStyleCnt="0"/>
      <dgm:spPr/>
    </dgm:pt>
    <dgm:pt modelId="{456F7A78-20DC-408D-81C8-A232CE7715B5}" type="pres">
      <dgm:prSet presAssocID="{D22D5402-67B3-46B1-B05E-5F346F5F7010}" presName="hierRoot1" presStyleCnt="0"/>
      <dgm:spPr/>
    </dgm:pt>
    <dgm:pt modelId="{6F3E77CE-3A64-46A4-AB50-664DEA8E625D}" type="pres">
      <dgm:prSet presAssocID="{D22D5402-67B3-46B1-B05E-5F346F5F7010}" presName="composite" presStyleCnt="0"/>
      <dgm:spPr/>
    </dgm:pt>
    <dgm:pt modelId="{30603A6A-5E70-473C-AB89-EAB78CE3BF0C}" type="pres">
      <dgm:prSet presAssocID="{D22D5402-67B3-46B1-B05E-5F346F5F7010}" presName="background" presStyleLbl="node0" presStyleIdx="2" presStyleCnt="3"/>
      <dgm:spPr/>
    </dgm:pt>
    <dgm:pt modelId="{0510A10B-7F88-4010-89DA-8BDAAF3FDE72}" type="pres">
      <dgm:prSet presAssocID="{D22D5402-67B3-46B1-B05E-5F346F5F7010}" presName="text" presStyleLbl="fgAcc0" presStyleIdx="2" presStyleCnt="3">
        <dgm:presLayoutVars>
          <dgm:chPref val="3"/>
        </dgm:presLayoutVars>
      </dgm:prSet>
      <dgm:spPr/>
    </dgm:pt>
    <dgm:pt modelId="{23A89748-7042-4D05-B33F-D63840D2C88C}" type="pres">
      <dgm:prSet presAssocID="{D22D5402-67B3-46B1-B05E-5F346F5F7010}" presName="hierChild2" presStyleCnt="0"/>
      <dgm:spPr/>
    </dgm:pt>
  </dgm:ptLst>
  <dgm:cxnLst>
    <dgm:cxn modelId="{B08E8914-36DB-459A-8C6A-CCB08A94EA3A}" srcId="{12ECFEEE-6800-4555-961B-AC4138248E7E}" destId="{D22D5402-67B3-46B1-B05E-5F346F5F7010}" srcOrd="2" destOrd="0" parTransId="{D29109A0-708D-4166-8557-A2659D74B859}" sibTransId="{B4497E82-A314-47B8-BE63-5DB445C72520}"/>
    <dgm:cxn modelId="{AB831C26-6F2A-4529-A315-C40D03369E50}" type="presOf" srcId="{D22D5402-67B3-46B1-B05E-5F346F5F7010}" destId="{0510A10B-7F88-4010-89DA-8BDAAF3FDE72}" srcOrd="0" destOrd="0" presId="urn:microsoft.com/office/officeart/2005/8/layout/hierarchy1"/>
    <dgm:cxn modelId="{82265028-B094-4C9B-9452-FCF63D932C71}" srcId="{12ECFEEE-6800-4555-961B-AC4138248E7E}" destId="{51594448-BC33-45C3-9839-B39DD46F3009}" srcOrd="1" destOrd="0" parTransId="{20A8A025-A305-48C6-9CDF-A4021E9B7DC8}" sibTransId="{780C62DE-8BFB-4372-A2F7-2C0020AAE11D}"/>
    <dgm:cxn modelId="{8E664030-01FF-4544-B49E-DBFC688148CF}" type="presOf" srcId="{51594448-BC33-45C3-9839-B39DD46F3009}" destId="{81EA1BA5-5D6B-4C7F-A412-AB5435D4E0B4}" srcOrd="0" destOrd="0" presId="urn:microsoft.com/office/officeart/2005/8/layout/hierarchy1"/>
    <dgm:cxn modelId="{4CA97A36-8D74-4074-8992-A492F88A43EE}" type="presOf" srcId="{6954842F-13DF-4955-8515-C0A28655A1DC}" destId="{E47CD689-E9EA-4BCF-89F2-8AC32C05CD10}" srcOrd="0" destOrd="0" presId="urn:microsoft.com/office/officeart/2005/8/layout/hierarchy1"/>
    <dgm:cxn modelId="{1F3D29C0-7245-4680-9123-2E0DC13C1C23}" srcId="{12ECFEEE-6800-4555-961B-AC4138248E7E}" destId="{6954842F-13DF-4955-8515-C0A28655A1DC}" srcOrd="0" destOrd="0" parTransId="{0672B194-A77F-4CD7-AB70-76EC4B41BA81}" sibTransId="{4744277E-73BB-44C6-871E-8F744377455C}"/>
    <dgm:cxn modelId="{C99E5AD4-12B7-4047-BD21-727345E3952D}" type="presOf" srcId="{12ECFEEE-6800-4555-961B-AC4138248E7E}" destId="{1F9DC30B-E2A7-4BB6-9799-27BD9D738D63}" srcOrd="0" destOrd="0" presId="urn:microsoft.com/office/officeart/2005/8/layout/hierarchy1"/>
    <dgm:cxn modelId="{2DBF3E59-D6EF-428E-9870-577B65BE8149}" type="presParOf" srcId="{1F9DC30B-E2A7-4BB6-9799-27BD9D738D63}" destId="{1D71492E-C48D-48C4-AC31-00206CD6B896}" srcOrd="0" destOrd="0" presId="urn:microsoft.com/office/officeart/2005/8/layout/hierarchy1"/>
    <dgm:cxn modelId="{13C40B99-45AD-454C-9AEC-B5E90034540F}" type="presParOf" srcId="{1D71492E-C48D-48C4-AC31-00206CD6B896}" destId="{BF9DCE8D-A4A7-42A4-9F51-57D7A561B32E}" srcOrd="0" destOrd="0" presId="urn:microsoft.com/office/officeart/2005/8/layout/hierarchy1"/>
    <dgm:cxn modelId="{544B1402-8BAA-4B97-B629-77623466DF29}" type="presParOf" srcId="{BF9DCE8D-A4A7-42A4-9F51-57D7A561B32E}" destId="{E76AA311-2E0E-4045-8BE3-9A3721E8B5C5}" srcOrd="0" destOrd="0" presId="urn:microsoft.com/office/officeart/2005/8/layout/hierarchy1"/>
    <dgm:cxn modelId="{04D6D796-6458-4B8A-8816-116D5702B41F}" type="presParOf" srcId="{BF9DCE8D-A4A7-42A4-9F51-57D7A561B32E}" destId="{E47CD689-E9EA-4BCF-89F2-8AC32C05CD10}" srcOrd="1" destOrd="0" presId="urn:microsoft.com/office/officeart/2005/8/layout/hierarchy1"/>
    <dgm:cxn modelId="{E42A20E0-4EB1-4570-9007-D47A3C5622AB}" type="presParOf" srcId="{1D71492E-C48D-48C4-AC31-00206CD6B896}" destId="{60E9AF6F-4287-4C62-92FD-E974F425B7DA}" srcOrd="1" destOrd="0" presId="urn:microsoft.com/office/officeart/2005/8/layout/hierarchy1"/>
    <dgm:cxn modelId="{B01068A8-5729-4408-85C1-F9428AB1399C}" type="presParOf" srcId="{1F9DC30B-E2A7-4BB6-9799-27BD9D738D63}" destId="{6EFB6B6D-9E3C-4195-A390-EE1DF4F899AC}" srcOrd="1" destOrd="0" presId="urn:microsoft.com/office/officeart/2005/8/layout/hierarchy1"/>
    <dgm:cxn modelId="{F1F8773B-E033-4297-A1BF-7CB9C350E3D6}" type="presParOf" srcId="{6EFB6B6D-9E3C-4195-A390-EE1DF4F899AC}" destId="{542077F1-0542-4B2D-B8A7-B8C004F6714B}" srcOrd="0" destOrd="0" presId="urn:microsoft.com/office/officeart/2005/8/layout/hierarchy1"/>
    <dgm:cxn modelId="{D0A3FC0C-DD1F-4FF9-9436-2E26187CB8ED}" type="presParOf" srcId="{542077F1-0542-4B2D-B8A7-B8C004F6714B}" destId="{D7A596D8-AC86-4358-B2E7-084F0CF438D5}" srcOrd="0" destOrd="0" presId="urn:microsoft.com/office/officeart/2005/8/layout/hierarchy1"/>
    <dgm:cxn modelId="{FEBF1862-6AE2-4B51-862D-7AD135DCF7E3}" type="presParOf" srcId="{542077F1-0542-4B2D-B8A7-B8C004F6714B}" destId="{81EA1BA5-5D6B-4C7F-A412-AB5435D4E0B4}" srcOrd="1" destOrd="0" presId="urn:microsoft.com/office/officeart/2005/8/layout/hierarchy1"/>
    <dgm:cxn modelId="{3F59CAB8-EB58-49CA-A6C8-FC8CD16FAC9B}" type="presParOf" srcId="{6EFB6B6D-9E3C-4195-A390-EE1DF4F899AC}" destId="{89161D61-33DE-4C46-91C3-4E16DD9DD4E5}" srcOrd="1" destOrd="0" presId="urn:microsoft.com/office/officeart/2005/8/layout/hierarchy1"/>
    <dgm:cxn modelId="{42E9EE80-4685-4963-9302-4BE0A1365196}" type="presParOf" srcId="{1F9DC30B-E2A7-4BB6-9799-27BD9D738D63}" destId="{456F7A78-20DC-408D-81C8-A232CE7715B5}" srcOrd="2" destOrd="0" presId="urn:microsoft.com/office/officeart/2005/8/layout/hierarchy1"/>
    <dgm:cxn modelId="{9F69733E-A6F4-45B5-B8D7-D4B5E49EA213}" type="presParOf" srcId="{456F7A78-20DC-408D-81C8-A232CE7715B5}" destId="{6F3E77CE-3A64-46A4-AB50-664DEA8E625D}" srcOrd="0" destOrd="0" presId="urn:microsoft.com/office/officeart/2005/8/layout/hierarchy1"/>
    <dgm:cxn modelId="{3920DF95-A1BA-49DC-8AA9-6570354CF2CE}" type="presParOf" srcId="{6F3E77CE-3A64-46A4-AB50-664DEA8E625D}" destId="{30603A6A-5E70-473C-AB89-EAB78CE3BF0C}" srcOrd="0" destOrd="0" presId="urn:microsoft.com/office/officeart/2005/8/layout/hierarchy1"/>
    <dgm:cxn modelId="{673035CC-8614-4839-A0C6-E23811E4B0B6}" type="presParOf" srcId="{6F3E77CE-3A64-46A4-AB50-664DEA8E625D}" destId="{0510A10B-7F88-4010-89DA-8BDAAF3FDE72}" srcOrd="1" destOrd="0" presId="urn:microsoft.com/office/officeart/2005/8/layout/hierarchy1"/>
    <dgm:cxn modelId="{D3458A34-40E0-4F01-81CE-127890DD2455}" type="presParOf" srcId="{456F7A78-20DC-408D-81C8-A232CE7715B5}" destId="{23A89748-7042-4D05-B33F-D63840D2C8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6B01F-AB0D-4768-8C25-FE2D37C33C1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F45B82-9EB1-40BD-AB8B-DE25143B1D72}">
      <dgm:prSet/>
      <dgm:spPr/>
      <dgm:t>
        <a:bodyPr/>
        <a:lstStyle/>
        <a:p>
          <a:pPr>
            <a:defRPr cap="all"/>
          </a:pPr>
          <a:r>
            <a:rPr lang="en-US"/>
            <a:t>End-to-end pipeline integration worked successfully</a:t>
          </a:r>
        </a:p>
      </dgm:t>
    </dgm:pt>
    <dgm:pt modelId="{E81655F8-4B6E-4B71-B329-BD5AAF325355}" type="parTrans" cxnId="{51273632-B67D-412D-9FA9-EEE4DFB54AFE}">
      <dgm:prSet/>
      <dgm:spPr/>
      <dgm:t>
        <a:bodyPr/>
        <a:lstStyle/>
        <a:p>
          <a:endParaRPr lang="en-US"/>
        </a:p>
      </dgm:t>
    </dgm:pt>
    <dgm:pt modelId="{4A3671C4-8793-48EB-B09F-19385EF0E3FC}" type="sibTrans" cxnId="{51273632-B67D-412D-9FA9-EEE4DFB54AFE}">
      <dgm:prSet/>
      <dgm:spPr/>
      <dgm:t>
        <a:bodyPr/>
        <a:lstStyle/>
        <a:p>
          <a:endParaRPr lang="en-US"/>
        </a:p>
      </dgm:t>
    </dgm:pt>
    <dgm:pt modelId="{D55E04B9-FDD0-4283-AA31-A89775CD20D2}">
      <dgm:prSet/>
      <dgm:spPr/>
      <dgm:t>
        <a:bodyPr/>
        <a:lstStyle/>
        <a:p>
          <a:pPr>
            <a:defRPr cap="all"/>
          </a:pPr>
          <a:r>
            <a:rPr lang="en-US"/>
            <a:t>API → MongoDB ingestion was consistent and stable</a:t>
          </a:r>
        </a:p>
      </dgm:t>
    </dgm:pt>
    <dgm:pt modelId="{781604BD-C126-4685-9FCA-A6C96EEC026F}" type="parTrans" cxnId="{F48F1BE3-6CAC-458B-A7C7-1EA151A7302C}">
      <dgm:prSet/>
      <dgm:spPr/>
      <dgm:t>
        <a:bodyPr/>
        <a:lstStyle/>
        <a:p>
          <a:endParaRPr lang="en-US"/>
        </a:p>
      </dgm:t>
    </dgm:pt>
    <dgm:pt modelId="{4DF1B70D-00BB-4BCD-BDE3-406AAD8A3813}" type="sibTrans" cxnId="{F48F1BE3-6CAC-458B-A7C7-1EA151A7302C}">
      <dgm:prSet/>
      <dgm:spPr/>
      <dgm:t>
        <a:bodyPr/>
        <a:lstStyle/>
        <a:p>
          <a:endParaRPr lang="en-US"/>
        </a:p>
      </dgm:t>
    </dgm:pt>
    <dgm:pt modelId="{C449A5A6-AF52-4CFE-A81F-9BD5700968CD}">
      <dgm:prSet/>
      <dgm:spPr/>
      <dgm:t>
        <a:bodyPr/>
        <a:lstStyle/>
        <a:p>
          <a:pPr>
            <a:defRPr cap="all"/>
          </a:pPr>
          <a:r>
            <a:rPr lang="en-US"/>
            <a:t>ClickHouse handled large queries with excellent speed</a:t>
          </a:r>
        </a:p>
      </dgm:t>
    </dgm:pt>
    <dgm:pt modelId="{374372EB-3A7F-4D99-84F9-B77F8536592C}" type="parTrans" cxnId="{3D70C8D6-B8BD-4D73-83B0-5D1B44C5446B}">
      <dgm:prSet/>
      <dgm:spPr/>
      <dgm:t>
        <a:bodyPr/>
        <a:lstStyle/>
        <a:p>
          <a:endParaRPr lang="en-US"/>
        </a:p>
      </dgm:t>
    </dgm:pt>
    <dgm:pt modelId="{B1B7FFD9-01BD-4329-B004-A86273140870}" type="sibTrans" cxnId="{3D70C8D6-B8BD-4D73-83B0-5D1B44C5446B}">
      <dgm:prSet/>
      <dgm:spPr/>
      <dgm:t>
        <a:bodyPr/>
        <a:lstStyle/>
        <a:p>
          <a:endParaRPr lang="en-US"/>
        </a:p>
      </dgm:t>
    </dgm:pt>
    <dgm:pt modelId="{E11DEF5D-9F1E-428A-90B0-15D3165687D6}">
      <dgm:prSet/>
      <dgm:spPr/>
      <dgm:t>
        <a:bodyPr/>
        <a:lstStyle/>
        <a:p>
          <a:pPr>
            <a:defRPr cap="all"/>
          </a:pPr>
          <a:r>
            <a:rPr lang="en-US"/>
            <a:t>Redis caching significantly improved dashboard performance</a:t>
          </a:r>
        </a:p>
      </dgm:t>
    </dgm:pt>
    <dgm:pt modelId="{F0608742-DC97-4F74-A40A-1A3ABDEE8C54}" type="parTrans" cxnId="{07BEA881-F97A-4F82-8841-F0274A4C541A}">
      <dgm:prSet/>
      <dgm:spPr/>
      <dgm:t>
        <a:bodyPr/>
        <a:lstStyle/>
        <a:p>
          <a:endParaRPr lang="en-US"/>
        </a:p>
      </dgm:t>
    </dgm:pt>
    <dgm:pt modelId="{4927BB38-06D2-409F-9C7F-5432276E6591}" type="sibTrans" cxnId="{07BEA881-F97A-4F82-8841-F0274A4C541A}">
      <dgm:prSet/>
      <dgm:spPr/>
      <dgm:t>
        <a:bodyPr/>
        <a:lstStyle/>
        <a:p>
          <a:endParaRPr lang="en-US"/>
        </a:p>
      </dgm:t>
    </dgm:pt>
    <dgm:pt modelId="{7576C991-E9E2-410E-9301-76E59D84FEA5}">
      <dgm:prSet/>
      <dgm:spPr/>
      <dgm:t>
        <a:bodyPr/>
        <a:lstStyle/>
        <a:p>
          <a:pPr>
            <a:defRPr cap="all"/>
          </a:pPr>
          <a:r>
            <a:rPr lang="en-US"/>
            <a:t>Dashboard visualizations (Chart.js) were clear and interactive</a:t>
          </a:r>
        </a:p>
      </dgm:t>
    </dgm:pt>
    <dgm:pt modelId="{0E59CA14-C1BE-41E7-A246-E90A3056F642}" type="parTrans" cxnId="{EEF37AC2-6240-442F-A294-F973F6F5689D}">
      <dgm:prSet/>
      <dgm:spPr/>
      <dgm:t>
        <a:bodyPr/>
        <a:lstStyle/>
        <a:p>
          <a:endParaRPr lang="en-US"/>
        </a:p>
      </dgm:t>
    </dgm:pt>
    <dgm:pt modelId="{6CD1106D-470A-4E9F-AFF4-E978686BFBA4}" type="sibTrans" cxnId="{EEF37AC2-6240-442F-A294-F973F6F5689D}">
      <dgm:prSet/>
      <dgm:spPr/>
      <dgm:t>
        <a:bodyPr/>
        <a:lstStyle/>
        <a:p>
          <a:endParaRPr lang="en-US"/>
        </a:p>
      </dgm:t>
    </dgm:pt>
    <dgm:pt modelId="{1D2C09AF-7424-4E26-B3E1-6F5FA9349C6B}">
      <dgm:prSet/>
      <dgm:spPr/>
      <dgm:t>
        <a:bodyPr/>
        <a:lstStyle/>
        <a:p>
          <a:pPr>
            <a:defRPr cap="all"/>
          </a:pPr>
          <a:r>
            <a:rPr lang="en-US"/>
            <a:t>Team collaboration was efficient and well coordinated</a:t>
          </a:r>
        </a:p>
      </dgm:t>
    </dgm:pt>
    <dgm:pt modelId="{81FE47AF-CA55-4208-88A7-A4F79CF7839F}" type="parTrans" cxnId="{CD2C3D33-A3A6-4A89-94AE-4C857D2A35D1}">
      <dgm:prSet/>
      <dgm:spPr/>
      <dgm:t>
        <a:bodyPr/>
        <a:lstStyle/>
        <a:p>
          <a:endParaRPr lang="en-US"/>
        </a:p>
      </dgm:t>
    </dgm:pt>
    <dgm:pt modelId="{FC89FDDA-7864-40AC-A984-5F630675F356}" type="sibTrans" cxnId="{CD2C3D33-A3A6-4A89-94AE-4C857D2A35D1}">
      <dgm:prSet/>
      <dgm:spPr/>
      <dgm:t>
        <a:bodyPr/>
        <a:lstStyle/>
        <a:p>
          <a:endParaRPr lang="en-US"/>
        </a:p>
      </dgm:t>
    </dgm:pt>
    <dgm:pt modelId="{DD952756-07C2-4DAF-A30A-BF3DD795ACAB}">
      <dgm:prSet/>
      <dgm:spPr/>
      <dgm:t>
        <a:bodyPr/>
        <a:lstStyle/>
        <a:p>
          <a:pPr>
            <a:defRPr cap="all"/>
          </a:pPr>
          <a:r>
            <a:rPr lang="en-US"/>
            <a:t>Metadata tracking improved transparency across the pipeline</a:t>
          </a:r>
        </a:p>
      </dgm:t>
    </dgm:pt>
    <dgm:pt modelId="{51781471-4994-4BC7-9F5A-C48E556811C8}" type="parTrans" cxnId="{BCAA310C-7772-4E9C-B701-AA07FFB00B8A}">
      <dgm:prSet/>
      <dgm:spPr/>
      <dgm:t>
        <a:bodyPr/>
        <a:lstStyle/>
        <a:p>
          <a:endParaRPr lang="en-US"/>
        </a:p>
      </dgm:t>
    </dgm:pt>
    <dgm:pt modelId="{45E3CACC-56D4-4905-BCC4-62EF805402DC}" type="sibTrans" cxnId="{BCAA310C-7772-4E9C-B701-AA07FFB00B8A}">
      <dgm:prSet/>
      <dgm:spPr/>
      <dgm:t>
        <a:bodyPr/>
        <a:lstStyle/>
        <a:p>
          <a:endParaRPr lang="en-US"/>
        </a:p>
      </dgm:t>
    </dgm:pt>
    <dgm:pt modelId="{844106F6-F692-41D4-86ED-AFE4FFF44E7C}" type="pres">
      <dgm:prSet presAssocID="{0A26B01F-AB0D-4768-8C25-FE2D37C33C18}" presName="root" presStyleCnt="0">
        <dgm:presLayoutVars>
          <dgm:dir/>
          <dgm:resizeHandles val="exact"/>
        </dgm:presLayoutVars>
      </dgm:prSet>
      <dgm:spPr/>
    </dgm:pt>
    <dgm:pt modelId="{AE4978F1-553E-4C73-AEBA-C5459898699E}" type="pres">
      <dgm:prSet presAssocID="{64F45B82-9EB1-40BD-AB8B-DE25143B1D72}" presName="compNode" presStyleCnt="0"/>
      <dgm:spPr/>
    </dgm:pt>
    <dgm:pt modelId="{6949223C-6C8A-4BD9-9A03-DA2B52495518}" type="pres">
      <dgm:prSet presAssocID="{64F45B82-9EB1-40BD-AB8B-DE25143B1D72}" presName="iconBgRect" presStyleLbl="bgShp" presStyleIdx="0" presStyleCnt="7"/>
      <dgm:spPr/>
    </dgm:pt>
    <dgm:pt modelId="{3332C286-8BBD-4363-AD38-C3B236D937D7}" type="pres">
      <dgm:prSet presAssocID="{64F45B82-9EB1-40BD-AB8B-DE25143B1D7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A338AE7-6852-4E06-84AC-B6902EB1E3F4}" type="pres">
      <dgm:prSet presAssocID="{64F45B82-9EB1-40BD-AB8B-DE25143B1D72}" presName="spaceRect" presStyleCnt="0"/>
      <dgm:spPr/>
    </dgm:pt>
    <dgm:pt modelId="{C780E4C8-B36C-498F-80F7-FFB5072FCAA7}" type="pres">
      <dgm:prSet presAssocID="{64F45B82-9EB1-40BD-AB8B-DE25143B1D72}" presName="textRect" presStyleLbl="revTx" presStyleIdx="0" presStyleCnt="7">
        <dgm:presLayoutVars>
          <dgm:chMax val="1"/>
          <dgm:chPref val="1"/>
        </dgm:presLayoutVars>
      </dgm:prSet>
      <dgm:spPr/>
    </dgm:pt>
    <dgm:pt modelId="{E72BDA87-6446-4BEE-BAB0-DA28B47122B9}" type="pres">
      <dgm:prSet presAssocID="{4A3671C4-8793-48EB-B09F-19385EF0E3FC}" presName="sibTrans" presStyleCnt="0"/>
      <dgm:spPr/>
    </dgm:pt>
    <dgm:pt modelId="{2315FCFB-ECF9-41C4-A8B9-B5A477260024}" type="pres">
      <dgm:prSet presAssocID="{D55E04B9-FDD0-4283-AA31-A89775CD20D2}" presName="compNode" presStyleCnt="0"/>
      <dgm:spPr/>
    </dgm:pt>
    <dgm:pt modelId="{9DBB5944-F38D-49FB-8696-84D6B965042E}" type="pres">
      <dgm:prSet presAssocID="{D55E04B9-FDD0-4283-AA31-A89775CD20D2}" presName="iconBgRect" presStyleLbl="bgShp" presStyleIdx="1" presStyleCnt="7"/>
      <dgm:spPr/>
    </dgm:pt>
    <dgm:pt modelId="{270DCC84-3490-4C6E-B99C-A0F3D4FAD455}" type="pres">
      <dgm:prSet presAssocID="{D55E04B9-FDD0-4283-AA31-A89775CD20D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E4EDAEE-6C27-4821-A6BC-42EFC2D82764}" type="pres">
      <dgm:prSet presAssocID="{D55E04B9-FDD0-4283-AA31-A89775CD20D2}" presName="spaceRect" presStyleCnt="0"/>
      <dgm:spPr/>
    </dgm:pt>
    <dgm:pt modelId="{F6421C73-F148-4DFE-B3F3-128DD8544928}" type="pres">
      <dgm:prSet presAssocID="{D55E04B9-FDD0-4283-AA31-A89775CD20D2}" presName="textRect" presStyleLbl="revTx" presStyleIdx="1" presStyleCnt="7">
        <dgm:presLayoutVars>
          <dgm:chMax val="1"/>
          <dgm:chPref val="1"/>
        </dgm:presLayoutVars>
      </dgm:prSet>
      <dgm:spPr/>
    </dgm:pt>
    <dgm:pt modelId="{D83E6AA6-CA5A-4FDA-B39A-6DB7C743F40E}" type="pres">
      <dgm:prSet presAssocID="{4DF1B70D-00BB-4BCD-BDE3-406AAD8A3813}" presName="sibTrans" presStyleCnt="0"/>
      <dgm:spPr/>
    </dgm:pt>
    <dgm:pt modelId="{17CEC957-850A-43C5-8E94-3A59DC70A340}" type="pres">
      <dgm:prSet presAssocID="{C449A5A6-AF52-4CFE-A81F-9BD5700968CD}" presName="compNode" presStyleCnt="0"/>
      <dgm:spPr/>
    </dgm:pt>
    <dgm:pt modelId="{393A7E25-5C60-401F-BC7C-A2992CC7E0B6}" type="pres">
      <dgm:prSet presAssocID="{C449A5A6-AF52-4CFE-A81F-9BD5700968CD}" presName="iconBgRect" presStyleLbl="bgShp" presStyleIdx="2" presStyleCnt="7"/>
      <dgm:spPr/>
    </dgm:pt>
    <dgm:pt modelId="{101211F7-AB10-44FE-9A86-557EC729F5F7}" type="pres">
      <dgm:prSet presAssocID="{C449A5A6-AF52-4CFE-A81F-9BD5700968C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E3E874F-CF6D-4D1C-AA6B-839FC8FEEFF7}" type="pres">
      <dgm:prSet presAssocID="{C449A5A6-AF52-4CFE-A81F-9BD5700968CD}" presName="spaceRect" presStyleCnt="0"/>
      <dgm:spPr/>
    </dgm:pt>
    <dgm:pt modelId="{1CC02111-5ACD-4A68-B8A0-EB296F71796C}" type="pres">
      <dgm:prSet presAssocID="{C449A5A6-AF52-4CFE-A81F-9BD5700968CD}" presName="textRect" presStyleLbl="revTx" presStyleIdx="2" presStyleCnt="7">
        <dgm:presLayoutVars>
          <dgm:chMax val="1"/>
          <dgm:chPref val="1"/>
        </dgm:presLayoutVars>
      </dgm:prSet>
      <dgm:spPr/>
    </dgm:pt>
    <dgm:pt modelId="{60DE961C-A031-4EE1-A481-1D775341FD11}" type="pres">
      <dgm:prSet presAssocID="{B1B7FFD9-01BD-4329-B004-A86273140870}" presName="sibTrans" presStyleCnt="0"/>
      <dgm:spPr/>
    </dgm:pt>
    <dgm:pt modelId="{D4168B1F-7054-4CB0-B483-96D6D320720A}" type="pres">
      <dgm:prSet presAssocID="{E11DEF5D-9F1E-428A-90B0-15D3165687D6}" presName="compNode" presStyleCnt="0"/>
      <dgm:spPr/>
    </dgm:pt>
    <dgm:pt modelId="{45BE90A5-7DFF-4129-BD5D-D2706BA6CB9C}" type="pres">
      <dgm:prSet presAssocID="{E11DEF5D-9F1E-428A-90B0-15D3165687D6}" presName="iconBgRect" presStyleLbl="bgShp" presStyleIdx="3" presStyleCnt="7"/>
      <dgm:spPr/>
    </dgm:pt>
    <dgm:pt modelId="{1B7D5FE8-B2B7-4E1C-8FEE-8C47FD9F3A1C}" type="pres">
      <dgm:prSet presAssocID="{E11DEF5D-9F1E-428A-90B0-15D3165687D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D239B28-C636-423C-AC3E-AC6513403CA3}" type="pres">
      <dgm:prSet presAssocID="{E11DEF5D-9F1E-428A-90B0-15D3165687D6}" presName="spaceRect" presStyleCnt="0"/>
      <dgm:spPr/>
    </dgm:pt>
    <dgm:pt modelId="{468D10B6-856C-4E7B-A240-4D56E5EF511F}" type="pres">
      <dgm:prSet presAssocID="{E11DEF5D-9F1E-428A-90B0-15D3165687D6}" presName="textRect" presStyleLbl="revTx" presStyleIdx="3" presStyleCnt="7">
        <dgm:presLayoutVars>
          <dgm:chMax val="1"/>
          <dgm:chPref val="1"/>
        </dgm:presLayoutVars>
      </dgm:prSet>
      <dgm:spPr/>
    </dgm:pt>
    <dgm:pt modelId="{75F35301-16B8-4225-829E-AE061A3E91AA}" type="pres">
      <dgm:prSet presAssocID="{4927BB38-06D2-409F-9C7F-5432276E6591}" presName="sibTrans" presStyleCnt="0"/>
      <dgm:spPr/>
    </dgm:pt>
    <dgm:pt modelId="{BC4BFE2A-6E39-4C74-AF35-8C9C8DDE2FE0}" type="pres">
      <dgm:prSet presAssocID="{7576C991-E9E2-410E-9301-76E59D84FEA5}" presName="compNode" presStyleCnt="0"/>
      <dgm:spPr/>
    </dgm:pt>
    <dgm:pt modelId="{E6A15B89-8066-4710-8A4D-54144D02D925}" type="pres">
      <dgm:prSet presAssocID="{7576C991-E9E2-410E-9301-76E59D84FEA5}" presName="iconBgRect" presStyleLbl="bgShp" presStyleIdx="4" presStyleCnt="7"/>
      <dgm:spPr/>
    </dgm:pt>
    <dgm:pt modelId="{CB3C3D6A-C4C6-4A58-B59E-2DF97A31C4B5}" type="pres">
      <dgm:prSet presAssocID="{7576C991-E9E2-410E-9301-76E59D84FEA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CD7566E4-7E64-4EAB-9114-4085382A31DC}" type="pres">
      <dgm:prSet presAssocID="{7576C991-E9E2-410E-9301-76E59D84FEA5}" presName="spaceRect" presStyleCnt="0"/>
      <dgm:spPr/>
    </dgm:pt>
    <dgm:pt modelId="{51683C11-DD61-4629-9B33-9406313928EE}" type="pres">
      <dgm:prSet presAssocID="{7576C991-E9E2-410E-9301-76E59D84FEA5}" presName="textRect" presStyleLbl="revTx" presStyleIdx="4" presStyleCnt="7">
        <dgm:presLayoutVars>
          <dgm:chMax val="1"/>
          <dgm:chPref val="1"/>
        </dgm:presLayoutVars>
      </dgm:prSet>
      <dgm:spPr/>
    </dgm:pt>
    <dgm:pt modelId="{90332A04-C1E6-4703-9B9B-815FFDE8D23F}" type="pres">
      <dgm:prSet presAssocID="{6CD1106D-470A-4E9F-AFF4-E978686BFBA4}" presName="sibTrans" presStyleCnt="0"/>
      <dgm:spPr/>
    </dgm:pt>
    <dgm:pt modelId="{1B974CBF-90BA-4B9B-9009-C319DDE8006C}" type="pres">
      <dgm:prSet presAssocID="{1D2C09AF-7424-4E26-B3E1-6F5FA9349C6B}" presName="compNode" presStyleCnt="0"/>
      <dgm:spPr/>
    </dgm:pt>
    <dgm:pt modelId="{31DDB798-E79C-470F-9D4F-841E1463BCC7}" type="pres">
      <dgm:prSet presAssocID="{1D2C09AF-7424-4E26-B3E1-6F5FA9349C6B}" presName="iconBgRect" presStyleLbl="bgShp" presStyleIdx="5" presStyleCnt="7"/>
      <dgm:spPr/>
    </dgm:pt>
    <dgm:pt modelId="{1B35FA42-89BC-4E28-96E4-A886FBEBA427}" type="pres">
      <dgm:prSet presAssocID="{1D2C09AF-7424-4E26-B3E1-6F5FA9349C6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18E735A-338D-4DB9-8962-92673A4017E5}" type="pres">
      <dgm:prSet presAssocID="{1D2C09AF-7424-4E26-B3E1-6F5FA9349C6B}" presName="spaceRect" presStyleCnt="0"/>
      <dgm:spPr/>
    </dgm:pt>
    <dgm:pt modelId="{7A514BCC-D079-4F78-9F2F-FAB3F4B44396}" type="pres">
      <dgm:prSet presAssocID="{1D2C09AF-7424-4E26-B3E1-6F5FA9349C6B}" presName="textRect" presStyleLbl="revTx" presStyleIdx="5" presStyleCnt="7">
        <dgm:presLayoutVars>
          <dgm:chMax val="1"/>
          <dgm:chPref val="1"/>
        </dgm:presLayoutVars>
      </dgm:prSet>
      <dgm:spPr/>
    </dgm:pt>
    <dgm:pt modelId="{7B272BD4-9434-45D4-87F0-0286E079D6D2}" type="pres">
      <dgm:prSet presAssocID="{FC89FDDA-7864-40AC-A984-5F630675F356}" presName="sibTrans" presStyleCnt="0"/>
      <dgm:spPr/>
    </dgm:pt>
    <dgm:pt modelId="{4A2144AF-69A0-43DC-B950-9EB1E87B44ED}" type="pres">
      <dgm:prSet presAssocID="{DD952756-07C2-4DAF-A30A-BF3DD795ACAB}" presName="compNode" presStyleCnt="0"/>
      <dgm:spPr/>
    </dgm:pt>
    <dgm:pt modelId="{FC966442-A3EF-4154-AE5D-C4EE42095781}" type="pres">
      <dgm:prSet presAssocID="{DD952756-07C2-4DAF-A30A-BF3DD795ACAB}" presName="iconBgRect" presStyleLbl="bgShp" presStyleIdx="6" presStyleCnt="7"/>
      <dgm:spPr/>
    </dgm:pt>
    <dgm:pt modelId="{3A2E4E1E-9DBE-455F-B947-F07CE5793034}" type="pres">
      <dgm:prSet presAssocID="{DD952756-07C2-4DAF-A30A-BF3DD795ACAB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ABC17FC-E8D1-4EA8-8C7C-8376A1CFCF43}" type="pres">
      <dgm:prSet presAssocID="{DD952756-07C2-4DAF-A30A-BF3DD795ACAB}" presName="spaceRect" presStyleCnt="0"/>
      <dgm:spPr/>
    </dgm:pt>
    <dgm:pt modelId="{6B794635-F717-4CA6-B48F-890306E28C23}" type="pres">
      <dgm:prSet presAssocID="{DD952756-07C2-4DAF-A30A-BF3DD795ACA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F0CDE09-369D-4094-80ED-AECE3E0003EC}" type="presOf" srcId="{C449A5A6-AF52-4CFE-A81F-9BD5700968CD}" destId="{1CC02111-5ACD-4A68-B8A0-EB296F71796C}" srcOrd="0" destOrd="0" presId="urn:microsoft.com/office/officeart/2018/5/layout/IconCircleLabelList"/>
    <dgm:cxn modelId="{BCAA310C-7772-4E9C-B701-AA07FFB00B8A}" srcId="{0A26B01F-AB0D-4768-8C25-FE2D37C33C18}" destId="{DD952756-07C2-4DAF-A30A-BF3DD795ACAB}" srcOrd="6" destOrd="0" parTransId="{51781471-4994-4BC7-9F5A-C48E556811C8}" sibTransId="{45E3CACC-56D4-4905-BCC4-62EF805402DC}"/>
    <dgm:cxn modelId="{5509F324-6EE3-4698-8C6F-A3FCFFB8858A}" type="presOf" srcId="{7576C991-E9E2-410E-9301-76E59D84FEA5}" destId="{51683C11-DD61-4629-9B33-9406313928EE}" srcOrd="0" destOrd="0" presId="urn:microsoft.com/office/officeart/2018/5/layout/IconCircleLabelList"/>
    <dgm:cxn modelId="{51273632-B67D-412D-9FA9-EEE4DFB54AFE}" srcId="{0A26B01F-AB0D-4768-8C25-FE2D37C33C18}" destId="{64F45B82-9EB1-40BD-AB8B-DE25143B1D72}" srcOrd="0" destOrd="0" parTransId="{E81655F8-4B6E-4B71-B329-BD5AAF325355}" sibTransId="{4A3671C4-8793-48EB-B09F-19385EF0E3FC}"/>
    <dgm:cxn modelId="{CD2C3D33-A3A6-4A89-94AE-4C857D2A35D1}" srcId="{0A26B01F-AB0D-4768-8C25-FE2D37C33C18}" destId="{1D2C09AF-7424-4E26-B3E1-6F5FA9349C6B}" srcOrd="5" destOrd="0" parTransId="{81FE47AF-CA55-4208-88A7-A4F79CF7839F}" sibTransId="{FC89FDDA-7864-40AC-A984-5F630675F356}"/>
    <dgm:cxn modelId="{D434C043-A154-4A50-9C0B-8FF717E28A14}" type="presOf" srcId="{1D2C09AF-7424-4E26-B3E1-6F5FA9349C6B}" destId="{7A514BCC-D079-4F78-9F2F-FAB3F4B44396}" srcOrd="0" destOrd="0" presId="urn:microsoft.com/office/officeart/2018/5/layout/IconCircleLabelList"/>
    <dgm:cxn modelId="{6943D155-7B0C-4089-A12B-A9C4EF18EBAA}" type="presOf" srcId="{0A26B01F-AB0D-4768-8C25-FE2D37C33C18}" destId="{844106F6-F692-41D4-86ED-AFE4FFF44E7C}" srcOrd="0" destOrd="0" presId="urn:microsoft.com/office/officeart/2018/5/layout/IconCircleLabelList"/>
    <dgm:cxn modelId="{07BEA881-F97A-4F82-8841-F0274A4C541A}" srcId="{0A26B01F-AB0D-4768-8C25-FE2D37C33C18}" destId="{E11DEF5D-9F1E-428A-90B0-15D3165687D6}" srcOrd="3" destOrd="0" parTransId="{F0608742-DC97-4F74-A40A-1A3ABDEE8C54}" sibTransId="{4927BB38-06D2-409F-9C7F-5432276E6591}"/>
    <dgm:cxn modelId="{7A631DBE-521B-40DD-A117-078F3CB3C861}" type="presOf" srcId="{DD952756-07C2-4DAF-A30A-BF3DD795ACAB}" destId="{6B794635-F717-4CA6-B48F-890306E28C23}" srcOrd="0" destOrd="0" presId="urn:microsoft.com/office/officeart/2018/5/layout/IconCircleLabelList"/>
    <dgm:cxn modelId="{EEF37AC2-6240-442F-A294-F973F6F5689D}" srcId="{0A26B01F-AB0D-4768-8C25-FE2D37C33C18}" destId="{7576C991-E9E2-410E-9301-76E59D84FEA5}" srcOrd="4" destOrd="0" parTransId="{0E59CA14-C1BE-41E7-A246-E90A3056F642}" sibTransId="{6CD1106D-470A-4E9F-AFF4-E978686BFBA4}"/>
    <dgm:cxn modelId="{66A513D3-B2E8-4CF9-A86B-5A941375DB7E}" type="presOf" srcId="{64F45B82-9EB1-40BD-AB8B-DE25143B1D72}" destId="{C780E4C8-B36C-498F-80F7-FFB5072FCAA7}" srcOrd="0" destOrd="0" presId="urn:microsoft.com/office/officeart/2018/5/layout/IconCircleLabelList"/>
    <dgm:cxn modelId="{3D70C8D6-B8BD-4D73-83B0-5D1B44C5446B}" srcId="{0A26B01F-AB0D-4768-8C25-FE2D37C33C18}" destId="{C449A5A6-AF52-4CFE-A81F-9BD5700968CD}" srcOrd="2" destOrd="0" parTransId="{374372EB-3A7F-4D99-84F9-B77F8536592C}" sibTransId="{B1B7FFD9-01BD-4329-B004-A86273140870}"/>
    <dgm:cxn modelId="{99D2C0DE-55FD-4FC2-83B9-09830388BBCB}" type="presOf" srcId="{D55E04B9-FDD0-4283-AA31-A89775CD20D2}" destId="{F6421C73-F148-4DFE-B3F3-128DD8544928}" srcOrd="0" destOrd="0" presId="urn:microsoft.com/office/officeart/2018/5/layout/IconCircleLabelList"/>
    <dgm:cxn modelId="{F48F1BE3-6CAC-458B-A7C7-1EA151A7302C}" srcId="{0A26B01F-AB0D-4768-8C25-FE2D37C33C18}" destId="{D55E04B9-FDD0-4283-AA31-A89775CD20D2}" srcOrd="1" destOrd="0" parTransId="{781604BD-C126-4685-9FCA-A6C96EEC026F}" sibTransId="{4DF1B70D-00BB-4BCD-BDE3-406AAD8A3813}"/>
    <dgm:cxn modelId="{E08292EF-1F55-4A1F-AFE3-ED6C69860466}" type="presOf" srcId="{E11DEF5D-9F1E-428A-90B0-15D3165687D6}" destId="{468D10B6-856C-4E7B-A240-4D56E5EF511F}" srcOrd="0" destOrd="0" presId="urn:microsoft.com/office/officeart/2018/5/layout/IconCircleLabelList"/>
    <dgm:cxn modelId="{3E11232A-9A4A-4D75-9F8C-168782ED42D1}" type="presParOf" srcId="{844106F6-F692-41D4-86ED-AFE4FFF44E7C}" destId="{AE4978F1-553E-4C73-AEBA-C5459898699E}" srcOrd="0" destOrd="0" presId="urn:microsoft.com/office/officeart/2018/5/layout/IconCircleLabelList"/>
    <dgm:cxn modelId="{A1558E71-9255-4D7C-8D38-B2CD3B652AB5}" type="presParOf" srcId="{AE4978F1-553E-4C73-AEBA-C5459898699E}" destId="{6949223C-6C8A-4BD9-9A03-DA2B52495518}" srcOrd="0" destOrd="0" presId="urn:microsoft.com/office/officeart/2018/5/layout/IconCircleLabelList"/>
    <dgm:cxn modelId="{BEE1C9A8-B8C9-49B4-B125-16C4952C408B}" type="presParOf" srcId="{AE4978F1-553E-4C73-AEBA-C5459898699E}" destId="{3332C286-8BBD-4363-AD38-C3B236D937D7}" srcOrd="1" destOrd="0" presId="urn:microsoft.com/office/officeart/2018/5/layout/IconCircleLabelList"/>
    <dgm:cxn modelId="{141A11F7-D754-421E-901D-1B53E477C2AF}" type="presParOf" srcId="{AE4978F1-553E-4C73-AEBA-C5459898699E}" destId="{AA338AE7-6852-4E06-84AC-B6902EB1E3F4}" srcOrd="2" destOrd="0" presId="urn:microsoft.com/office/officeart/2018/5/layout/IconCircleLabelList"/>
    <dgm:cxn modelId="{B0861EDA-19A3-443D-9F8E-7C98491B6DB3}" type="presParOf" srcId="{AE4978F1-553E-4C73-AEBA-C5459898699E}" destId="{C780E4C8-B36C-498F-80F7-FFB5072FCAA7}" srcOrd="3" destOrd="0" presId="urn:microsoft.com/office/officeart/2018/5/layout/IconCircleLabelList"/>
    <dgm:cxn modelId="{D7874A20-6997-4E8E-BF8B-F2EB30600A3D}" type="presParOf" srcId="{844106F6-F692-41D4-86ED-AFE4FFF44E7C}" destId="{E72BDA87-6446-4BEE-BAB0-DA28B47122B9}" srcOrd="1" destOrd="0" presId="urn:microsoft.com/office/officeart/2018/5/layout/IconCircleLabelList"/>
    <dgm:cxn modelId="{8B959704-CF14-4CD0-BF10-50E78171D082}" type="presParOf" srcId="{844106F6-F692-41D4-86ED-AFE4FFF44E7C}" destId="{2315FCFB-ECF9-41C4-A8B9-B5A477260024}" srcOrd="2" destOrd="0" presId="urn:microsoft.com/office/officeart/2018/5/layout/IconCircleLabelList"/>
    <dgm:cxn modelId="{17BFF39D-900A-4B87-B472-F926349845D4}" type="presParOf" srcId="{2315FCFB-ECF9-41C4-A8B9-B5A477260024}" destId="{9DBB5944-F38D-49FB-8696-84D6B965042E}" srcOrd="0" destOrd="0" presId="urn:microsoft.com/office/officeart/2018/5/layout/IconCircleLabelList"/>
    <dgm:cxn modelId="{9004329D-9FE2-49FA-9EFE-D118A8B9B43D}" type="presParOf" srcId="{2315FCFB-ECF9-41C4-A8B9-B5A477260024}" destId="{270DCC84-3490-4C6E-B99C-A0F3D4FAD455}" srcOrd="1" destOrd="0" presId="urn:microsoft.com/office/officeart/2018/5/layout/IconCircleLabelList"/>
    <dgm:cxn modelId="{59ECE212-85BB-4A19-A20D-D1C7D5587C4D}" type="presParOf" srcId="{2315FCFB-ECF9-41C4-A8B9-B5A477260024}" destId="{2E4EDAEE-6C27-4821-A6BC-42EFC2D82764}" srcOrd="2" destOrd="0" presId="urn:microsoft.com/office/officeart/2018/5/layout/IconCircleLabelList"/>
    <dgm:cxn modelId="{92B5C55E-3D1C-4976-A906-80EDD33D57DA}" type="presParOf" srcId="{2315FCFB-ECF9-41C4-A8B9-B5A477260024}" destId="{F6421C73-F148-4DFE-B3F3-128DD8544928}" srcOrd="3" destOrd="0" presId="urn:microsoft.com/office/officeart/2018/5/layout/IconCircleLabelList"/>
    <dgm:cxn modelId="{CDD23A76-1775-419C-AED6-3895B518A84A}" type="presParOf" srcId="{844106F6-F692-41D4-86ED-AFE4FFF44E7C}" destId="{D83E6AA6-CA5A-4FDA-B39A-6DB7C743F40E}" srcOrd="3" destOrd="0" presId="urn:microsoft.com/office/officeart/2018/5/layout/IconCircleLabelList"/>
    <dgm:cxn modelId="{4744C5A6-0538-4F24-B268-A70F3C3F6848}" type="presParOf" srcId="{844106F6-F692-41D4-86ED-AFE4FFF44E7C}" destId="{17CEC957-850A-43C5-8E94-3A59DC70A340}" srcOrd="4" destOrd="0" presId="urn:microsoft.com/office/officeart/2018/5/layout/IconCircleLabelList"/>
    <dgm:cxn modelId="{CAB92AE2-8CCF-46A9-8C01-C0C4B4330113}" type="presParOf" srcId="{17CEC957-850A-43C5-8E94-3A59DC70A340}" destId="{393A7E25-5C60-401F-BC7C-A2992CC7E0B6}" srcOrd="0" destOrd="0" presId="urn:microsoft.com/office/officeart/2018/5/layout/IconCircleLabelList"/>
    <dgm:cxn modelId="{F6D6ADA3-4032-4170-9DA4-A8FF5724FB6F}" type="presParOf" srcId="{17CEC957-850A-43C5-8E94-3A59DC70A340}" destId="{101211F7-AB10-44FE-9A86-557EC729F5F7}" srcOrd="1" destOrd="0" presId="urn:microsoft.com/office/officeart/2018/5/layout/IconCircleLabelList"/>
    <dgm:cxn modelId="{28907A8F-AEE4-4879-B9D4-920A5D0CF6B9}" type="presParOf" srcId="{17CEC957-850A-43C5-8E94-3A59DC70A340}" destId="{8E3E874F-CF6D-4D1C-AA6B-839FC8FEEFF7}" srcOrd="2" destOrd="0" presId="urn:microsoft.com/office/officeart/2018/5/layout/IconCircleLabelList"/>
    <dgm:cxn modelId="{B89D0647-7FE1-4267-81F3-1CF109902FA8}" type="presParOf" srcId="{17CEC957-850A-43C5-8E94-3A59DC70A340}" destId="{1CC02111-5ACD-4A68-B8A0-EB296F71796C}" srcOrd="3" destOrd="0" presId="urn:microsoft.com/office/officeart/2018/5/layout/IconCircleLabelList"/>
    <dgm:cxn modelId="{24B545DC-677F-4AC7-817C-F673CD487E9E}" type="presParOf" srcId="{844106F6-F692-41D4-86ED-AFE4FFF44E7C}" destId="{60DE961C-A031-4EE1-A481-1D775341FD11}" srcOrd="5" destOrd="0" presId="urn:microsoft.com/office/officeart/2018/5/layout/IconCircleLabelList"/>
    <dgm:cxn modelId="{1909D50C-C692-4464-9F83-047F533D69B4}" type="presParOf" srcId="{844106F6-F692-41D4-86ED-AFE4FFF44E7C}" destId="{D4168B1F-7054-4CB0-B483-96D6D320720A}" srcOrd="6" destOrd="0" presId="urn:microsoft.com/office/officeart/2018/5/layout/IconCircleLabelList"/>
    <dgm:cxn modelId="{58BCE15C-2424-47E2-ADCA-E134B03A7081}" type="presParOf" srcId="{D4168B1F-7054-4CB0-B483-96D6D320720A}" destId="{45BE90A5-7DFF-4129-BD5D-D2706BA6CB9C}" srcOrd="0" destOrd="0" presId="urn:microsoft.com/office/officeart/2018/5/layout/IconCircleLabelList"/>
    <dgm:cxn modelId="{18CCAFB6-B65E-4A83-90DB-005E3FACD44A}" type="presParOf" srcId="{D4168B1F-7054-4CB0-B483-96D6D320720A}" destId="{1B7D5FE8-B2B7-4E1C-8FEE-8C47FD9F3A1C}" srcOrd="1" destOrd="0" presId="urn:microsoft.com/office/officeart/2018/5/layout/IconCircleLabelList"/>
    <dgm:cxn modelId="{67E51EFB-1C0E-4860-BFB5-5F24BDB59465}" type="presParOf" srcId="{D4168B1F-7054-4CB0-B483-96D6D320720A}" destId="{7D239B28-C636-423C-AC3E-AC6513403CA3}" srcOrd="2" destOrd="0" presId="urn:microsoft.com/office/officeart/2018/5/layout/IconCircleLabelList"/>
    <dgm:cxn modelId="{AD230315-4389-4057-B4ED-3FD68DD9C18B}" type="presParOf" srcId="{D4168B1F-7054-4CB0-B483-96D6D320720A}" destId="{468D10B6-856C-4E7B-A240-4D56E5EF511F}" srcOrd="3" destOrd="0" presId="urn:microsoft.com/office/officeart/2018/5/layout/IconCircleLabelList"/>
    <dgm:cxn modelId="{1373BE99-C34F-4560-A0A0-C124E9F10E93}" type="presParOf" srcId="{844106F6-F692-41D4-86ED-AFE4FFF44E7C}" destId="{75F35301-16B8-4225-829E-AE061A3E91AA}" srcOrd="7" destOrd="0" presId="urn:microsoft.com/office/officeart/2018/5/layout/IconCircleLabelList"/>
    <dgm:cxn modelId="{DD64FE4F-2428-42B4-A72E-035F1A04DD2E}" type="presParOf" srcId="{844106F6-F692-41D4-86ED-AFE4FFF44E7C}" destId="{BC4BFE2A-6E39-4C74-AF35-8C9C8DDE2FE0}" srcOrd="8" destOrd="0" presId="urn:microsoft.com/office/officeart/2018/5/layout/IconCircleLabelList"/>
    <dgm:cxn modelId="{00744C56-E011-4BED-A6AD-D68F3EB13AEA}" type="presParOf" srcId="{BC4BFE2A-6E39-4C74-AF35-8C9C8DDE2FE0}" destId="{E6A15B89-8066-4710-8A4D-54144D02D925}" srcOrd="0" destOrd="0" presId="urn:microsoft.com/office/officeart/2018/5/layout/IconCircleLabelList"/>
    <dgm:cxn modelId="{23C7504B-8884-4A7C-A963-69026731825D}" type="presParOf" srcId="{BC4BFE2A-6E39-4C74-AF35-8C9C8DDE2FE0}" destId="{CB3C3D6A-C4C6-4A58-B59E-2DF97A31C4B5}" srcOrd="1" destOrd="0" presId="urn:microsoft.com/office/officeart/2018/5/layout/IconCircleLabelList"/>
    <dgm:cxn modelId="{0FE4760C-68B6-40DD-97E6-1030104CBAD3}" type="presParOf" srcId="{BC4BFE2A-6E39-4C74-AF35-8C9C8DDE2FE0}" destId="{CD7566E4-7E64-4EAB-9114-4085382A31DC}" srcOrd="2" destOrd="0" presId="urn:microsoft.com/office/officeart/2018/5/layout/IconCircleLabelList"/>
    <dgm:cxn modelId="{8BEAE737-11A4-4EE6-A947-9B6366D83237}" type="presParOf" srcId="{BC4BFE2A-6E39-4C74-AF35-8C9C8DDE2FE0}" destId="{51683C11-DD61-4629-9B33-9406313928EE}" srcOrd="3" destOrd="0" presId="urn:microsoft.com/office/officeart/2018/5/layout/IconCircleLabelList"/>
    <dgm:cxn modelId="{347D1D48-5781-4C5F-9D44-8CE735007620}" type="presParOf" srcId="{844106F6-F692-41D4-86ED-AFE4FFF44E7C}" destId="{90332A04-C1E6-4703-9B9B-815FFDE8D23F}" srcOrd="9" destOrd="0" presId="urn:microsoft.com/office/officeart/2018/5/layout/IconCircleLabelList"/>
    <dgm:cxn modelId="{218AB2CD-9ECC-4B10-B44D-D55C25952C12}" type="presParOf" srcId="{844106F6-F692-41D4-86ED-AFE4FFF44E7C}" destId="{1B974CBF-90BA-4B9B-9009-C319DDE8006C}" srcOrd="10" destOrd="0" presId="urn:microsoft.com/office/officeart/2018/5/layout/IconCircleLabelList"/>
    <dgm:cxn modelId="{206B55B9-96A4-4F54-AD57-56D6FB92DCFE}" type="presParOf" srcId="{1B974CBF-90BA-4B9B-9009-C319DDE8006C}" destId="{31DDB798-E79C-470F-9D4F-841E1463BCC7}" srcOrd="0" destOrd="0" presId="urn:microsoft.com/office/officeart/2018/5/layout/IconCircleLabelList"/>
    <dgm:cxn modelId="{C9D65E3B-9A45-4032-A9AA-154D5E17D92E}" type="presParOf" srcId="{1B974CBF-90BA-4B9B-9009-C319DDE8006C}" destId="{1B35FA42-89BC-4E28-96E4-A886FBEBA427}" srcOrd="1" destOrd="0" presId="urn:microsoft.com/office/officeart/2018/5/layout/IconCircleLabelList"/>
    <dgm:cxn modelId="{D62845F7-31A9-4329-BC45-76F52B4789CA}" type="presParOf" srcId="{1B974CBF-90BA-4B9B-9009-C319DDE8006C}" destId="{D18E735A-338D-4DB9-8962-92673A4017E5}" srcOrd="2" destOrd="0" presId="urn:microsoft.com/office/officeart/2018/5/layout/IconCircleLabelList"/>
    <dgm:cxn modelId="{153C0B36-BB3A-4AA9-AC77-E1DA63B0AABB}" type="presParOf" srcId="{1B974CBF-90BA-4B9B-9009-C319DDE8006C}" destId="{7A514BCC-D079-4F78-9F2F-FAB3F4B44396}" srcOrd="3" destOrd="0" presId="urn:microsoft.com/office/officeart/2018/5/layout/IconCircleLabelList"/>
    <dgm:cxn modelId="{A89AD2A8-DE33-4E3C-92B0-5EDBA790C097}" type="presParOf" srcId="{844106F6-F692-41D4-86ED-AFE4FFF44E7C}" destId="{7B272BD4-9434-45D4-87F0-0286E079D6D2}" srcOrd="11" destOrd="0" presId="urn:microsoft.com/office/officeart/2018/5/layout/IconCircleLabelList"/>
    <dgm:cxn modelId="{D60B18B3-2830-4E3E-8A9C-4D08BF8ADC87}" type="presParOf" srcId="{844106F6-F692-41D4-86ED-AFE4FFF44E7C}" destId="{4A2144AF-69A0-43DC-B950-9EB1E87B44ED}" srcOrd="12" destOrd="0" presId="urn:microsoft.com/office/officeart/2018/5/layout/IconCircleLabelList"/>
    <dgm:cxn modelId="{BA86DD83-D7DA-4CFE-8D56-81F18552D1FE}" type="presParOf" srcId="{4A2144AF-69A0-43DC-B950-9EB1E87B44ED}" destId="{FC966442-A3EF-4154-AE5D-C4EE42095781}" srcOrd="0" destOrd="0" presId="urn:microsoft.com/office/officeart/2018/5/layout/IconCircleLabelList"/>
    <dgm:cxn modelId="{CE628EAE-C3E7-4C7F-8838-BEB6C65DA296}" type="presParOf" srcId="{4A2144AF-69A0-43DC-B950-9EB1E87B44ED}" destId="{3A2E4E1E-9DBE-455F-B947-F07CE5793034}" srcOrd="1" destOrd="0" presId="urn:microsoft.com/office/officeart/2018/5/layout/IconCircleLabelList"/>
    <dgm:cxn modelId="{AD733C78-0A0D-4C9A-B0AE-2839DFACE422}" type="presParOf" srcId="{4A2144AF-69A0-43DC-B950-9EB1E87B44ED}" destId="{4ABC17FC-E8D1-4EA8-8C7C-8376A1CFCF43}" srcOrd="2" destOrd="0" presId="urn:microsoft.com/office/officeart/2018/5/layout/IconCircleLabelList"/>
    <dgm:cxn modelId="{3DED4B57-CACD-427C-81E4-4D3FA42DE102}" type="presParOf" srcId="{4A2144AF-69A0-43DC-B950-9EB1E87B44ED}" destId="{6B794635-F717-4CA6-B48F-890306E28C2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0CBA9A-671C-4521-8FD6-A964E553334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FA6A366-9EF3-456C-A81D-169D67EF4702}">
      <dgm:prSet/>
      <dgm:spPr/>
      <dgm:t>
        <a:bodyPr/>
        <a:lstStyle/>
        <a:p>
          <a:r>
            <a:rPr lang="en-US"/>
            <a:t>ClickHouse authentication errors (default user + read-only mode)</a:t>
          </a:r>
        </a:p>
      </dgm:t>
    </dgm:pt>
    <dgm:pt modelId="{47793227-3F61-4E0A-B95D-C81ABEE3B7BD}" type="parTrans" cxnId="{1751C7EB-8382-4061-9A8D-670A516707AE}">
      <dgm:prSet/>
      <dgm:spPr/>
      <dgm:t>
        <a:bodyPr/>
        <a:lstStyle/>
        <a:p>
          <a:endParaRPr lang="en-US"/>
        </a:p>
      </dgm:t>
    </dgm:pt>
    <dgm:pt modelId="{59D2CA58-2117-4372-B8C8-5D7B62A4F7B8}" type="sibTrans" cxnId="{1751C7EB-8382-4061-9A8D-670A516707AE}">
      <dgm:prSet/>
      <dgm:spPr/>
      <dgm:t>
        <a:bodyPr/>
        <a:lstStyle/>
        <a:p>
          <a:endParaRPr lang="en-US"/>
        </a:p>
      </dgm:t>
    </dgm:pt>
    <dgm:pt modelId="{5238F012-7CB0-4540-A3BB-DC59207624B0}">
      <dgm:prSet/>
      <dgm:spPr/>
      <dgm:t>
        <a:bodyPr/>
        <a:lstStyle/>
        <a:p>
          <a:r>
            <a:rPr lang="en-US"/>
            <a:t>Docker port conflicts (8123, 9000, 6379)</a:t>
          </a:r>
        </a:p>
      </dgm:t>
    </dgm:pt>
    <dgm:pt modelId="{FC546B45-7498-4F8A-B960-1D7F38476BEE}" type="parTrans" cxnId="{203DFCC1-731B-43E9-A9DC-BB08FCA2E078}">
      <dgm:prSet/>
      <dgm:spPr/>
      <dgm:t>
        <a:bodyPr/>
        <a:lstStyle/>
        <a:p>
          <a:endParaRPr lang="en-US"/>
        </a:p>
      </dgm:t>
    </dgm:pt>
    <dgm:pt modelId="{1CE0A7C0-7834-4C5F-8D15-8A3C46889CA0}" type="sibTrans" cxnId="{203DFCC1-731B-43E9-A9DC-BB08FCA2E078}">
      <dgm:prSet/>
      <dgm:spPr/>
      <dgm:t>
        <a:bodyPr/>
        <a:lstStyle/>
        <a:p>
          <a:endParaRPr lang="en-US"/>
        </a:p>
      </dgm:t>
    </dgm:pt>
    <dgm:pt modelId="{5278EDBF-5496-4019-BAAC-CF040D80D0D7}">
      <dgm:prSet/>
      <dgm:spPr/>
      <dgm:t>
        <a:bodyPr/>
        <a:lstStyle/>
        <a:p>
          <a:r>
            <a:rPr lang="en-US"/>
            <a:t>MongoDB CLI issues (mongosh missing on Windows)</a:t>
          </a:r>
        </a:p>
      </dgm:t>
    </dgm:pt>
    <dgm:pt modelId="{0E79EA44-8377-4CB6-A541-BD85AB3106C7}" type="parTrans" cxnId="{95E7B3ED-9583-4E27-9E3F-FD13FB6E1FAA}">
      <dgm:prSet/>
      <dgm:spPr/>
      <dgm:t>
        <a:bodyPr/>
        <a:lstStyle/>
        <a:p>
          <a:endParaRPr lang="en-US"/>
        </a:p>
      </dgm:t>
    </dgm:pt>
    <dgm:pt modelId="{CF526CA7-9B89-47E8-A223-E464DAF39E1F}" type="sibTrans" cxnId="{95E7B3ED-9583-4E27-9E3F-FD13FB6E1FAA}">
      <dgm:prSet/>
      <dgm:spPr/>
      <dgm:t>
        <a:bodyPr/>
        <a:lstStyle/>
        <a:p>
          <a:endParaRPr lang="en-US"/>
        </a:p>
      </dgm:t>
    </dgm:pt>
    <dgm:pt modelId="{F6E44012-681A-4D59-A716-890C3A2401B4}">
      <dgm:prSet/>
      <dgm:spPr/>
      <dgm:t>
        <a:bodyPr/>
        <a:lstStyle/>
        <a:p>
          <a:r>
            <a:rPr lang="en-US"/>
            <a:t>API returning 404 for certain date ranges</a:t>
          </a:r>
        </a:p>
      </dgm:t>
    </dgm:pt>
    <dgm:pt modelId="{D9315E87-062A-47BB-B4CD-40F9928F76F7}" type="parTrans" cxnId="{96685BCC-7811-4232-BA5F-481572FF2D19}">
      <dgm:prSet/>
      <dgm:spPr/>
      <dgm:t>
        <a:bodyPr/>
        <a:lstStyle/>
        <a:p>
          <a:endParaRPr lang="en-US"/>
        </a:p>
      </dgm:t>
    </dgm:pt>
    <dgm:pt modelId="{3D85D763-39F4-4142-BB16-C5AD1E594B4B}" type="sibTrans" cxnId="{96685BCC-7811-4232-BA5F-481572FF2D19}">
      <dgm:prSet/>
      <dgm:spPr/>
      <dgm:t>
        <a:bodyPr/>
        <a:lstStyle/>
        <a:p>
          <a:endParaRPr lang="en-US"/>
        </a:p>
      </dgm:t>
    </dgm:pt>
    <dgm:pt modelId="{3899C33C-D971-41A3-BB72-B28027D2E86B}">
      <dgm:prSet/>
      <dgm:spPr/>
      <dgm:t>
        <a:bodyPr/>
        <a:lstStyle/>
        <a:p>
          <a:r>
            <a:rPr lang="en-US"/>
            <a:t>Inconsistent weather fields requiring transformation</a:t>
          </a:r>
        </a:p>
      </dgm:t>
    </dgm:pt>
    <dgm:pt modelId="{B7FBCD09-6A1B-4195-AE6D-1BF69EC5C498}" type="parTrans" cxnId="{B62817BC-FF16-40BD-8FCA-D77D84FE11F2}">
      <dgm:prSet/>
      <dgm:spPr/>
      <dgm:t>
        <a:bodyPr/>
        <a:lstStyle/>
        <a:p>
          <a:endParaRPr lang="en-US"/>
        </a:p>
      </dgm:t>
    </dgm:pt>
    <dgm:pt modelId="{DC728BFB-94F3-4375-A922-F6B55A606FCC}" type="sibTrans" cxnId="{B62817BC-FF16-40BD-8FCA-D77D84FE11F2}">
      <dgm:prSet/>
      <dgm:spPr/>
      <dgm:t>
        <a:bodyPr/>
        <a:lstStyle/>
        <a:p>
          <a:endParaRPr lang="en-US"/>
        </a:p>
      </dgm:t>
    </dgm:pt>
    <dgm:pt modelId="{78A2258B-36AC-435A-AB55-40A7FF9A3BF8}">
      <dgm:prSet/>
      <dgm:spPr/>
      <dgm:t>
        <a:bodyPr/>
        <a:lstStyle/>
        <a:p>
          <a:r>
            <a:rPr lang="en-US"/>
            <a:t>Redis TTL expiration causing cache misses</a:t>
          </a:r>
        </a:p>
      </dgm:t>
    </dgm:pt>
    <dgm:pt modelId="{A22EBC38-8D37-4D2B-8106-B04D5F2D84C5}" type="parTrans" cxnId="{F6F46CF1-5752-4C1D-B35B-29763CB5DF92}">
      <dgm:prSet/>
      <dgm:spPr/>
      <dgm:t>
        <a:bodyPr/>
        <a:lstStyle/>
        <a:p>
          <a:endParaRPr lang="en-US"/>
        </a:p>
      </dgm:t>
    </dgm:pt>
    <dgm:pt modelId="{EEAB9D56-A827-41E6-AC56-F507D558BBF7}" type="sibTrans" cxnId="{F6F46CF1-5752-4C1D-B35B-29763CB5DF92}">
      <dgm:prSet/>
      <dgm:spPr/>
      <dgm:t>
        <a:bodyPr/>
        <a:lstStyle/>
        <a:p>
          <a:endParaRPr lang="en-US"/>
        </a:p>
      </dgm:t>
    </dgm:pt>
    <dgm:pt modelId="{9B88EFD2-E705-4D6C-BBEC-A2AA47CD364B}">
      <dgm:prSet/>
      <dgm:spPr/>
      <dgm:t>
        <a:bodyPr/>
        <a:lstStyle/>
        <a:p>
          <a:r>
            <a:rPr lang="en-US"/>
            <a:t>Sync timing issues between MongoDB → ClickHouse → Redis</a:t>
          </a:r>
        </a:p>
      </dgm:t>
    </dgm:pt>
    <dgm:pt modelId="{5526D234-CB55-49DF-B6B8-9C7823695FC9}" type="parTrans" cxnId="{709CB67F-AA9E-463A-9F3C-9FFE1B6BB21B}">
      <dgm:prSet/>
      <dgm:spPr/>
      <dgm:t>
        <a:bodyPr/>
        <a:lstStyle/>
        <a:p>
          <a:endParaRPr lang="en-US"/>
        </a:p>
      </dgm:t>
    </dgm:pt>
    <dgm:pt modelId="{8DE58C28-5EA2-427D-A116-2847E9E6FF50}" type="sibTrans" cxnId="{709CB67F-AA9E-463A-9F3C-9FFE1B6BB21B}">
      <dgm:prSet/>
      <dgm:spPr/>
      <dgm:t>
        <a:bodyPr/>
        <a:lstStyle/>
        <a:p>
          <a:endParaRPr lang="en-US"/>
        </a:p>
      </dgm:t>
    </dgm:pt>
    <dgm:pt modelId="{F1A1F535-B1EE-4A0A-8C96-7B80511FB96A}">
      <dgm:prSet/>
      <dgm:spPr/>
      <dgm:t>
        <a:bodyPr/>
        <a:lstStyle/>
        <a:p>
          <a:r>
            <a:rPr lang="en-US"/>
            <a:t>.env variables failing to load across scripts</a:t>
          </a:r>
        </a:p>
      </dgm:t>
    </dgm:pt>
    <dgm:pt modelId="{F3C5A9BA-3793-43F6-B78D-4E402BDF5666}" type="parTrans" cxnId="{2BB86BD0-09E8-4B61-AF2A-238FCC1BC7A1}">
      <dgm:prSet/>
      <dgm:spPr/>
      <dgm:t>
        <a:bodyPr/>
        <a:lstStyle/>
        <a:p>
          <a:endParaRPr lang="en-US"/>
        </a:p>
      </dgm:t>
    </dgm:pt>
    <dgm:pt modelId="{1030CA74-BF7D-4846-AC08-457AACD6423A}" type="sibTrans" cxnId="{2BB86BD0-09E8-4B61-AF2A-238FCC1BC7A1}">
      <dgm:prSet/>
      <dgm:spPr/>
      <dgm:t>
        <a:bodyPr/>
        <a:lstStyle/>
        <a:p>
          <a:endParaRPr lang="en-US"/>
        </a:p>
      </dgm:t>
    </dgm:pt>
    <dgm:pt modelId="{F3A932A3-AE0B-477E-B52B-18197F1EF128}" type="pres">
      <dgm:prSet presAssocID="{2E0CBA9A-671C-4521-8FD6-A964E5533342}" presName="linear" presStyleCnt="0">
        <dgm:presLayoutVars>
          <dgm:animLvl val="lvl"/>
          <dgm:resizeHandles val="exact"/>
        </dgm:presLayoutVars>
      </dgm:prSet>
      <dgm:spPr/>
    </dgm:pt>
    <dgm:pt modelId="{075ADE56-FDBB-4ABC-9DFE-DBCF7EB903B5}" type="pres">
      <dgm:prSet presAssocID="{CFA6A366-9EF3-456C-A81D-169D67EF470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21DC1BB2-467F-4E56-89D7-FADC04BCB862}" type="pres">
      <dgm:prSet presAssocID="{59D2CA58-2117-4372-B8C8-5D7B62A4F7B8}" presName="spacer" presStyleCnt="0"/>
      <dgm:spPr/>
    </dgm:pt>
    <dgm:pt modelId="{1522FB35-A785-4345-BB5D-6A833F0D35CD}" type="pres">
      <dgm:prSet presAssocID="{5238F012-7CB0-4540-A3BB-DC59207624B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862087C-3B79-48B5-9C85-C06770094F57}" type="pres">
      <dgm:prSet presAssocID="{1CE0A7C0-7834-4C5F-8D15-8A3C46889CA0}" presName="spacer" presStyleCnt="0"/>
      <dgm:spPr/>
    </dgm:pt>
    <dgm:pt modelId="{1F401A4B-9D1A-42AE-920F-9DEA8CEBBF09}" type="pres">
      <dgm:prSet presAssocID="{5278EDBF-5496-4019-BAAC-CF040D80D0D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8204B39-C1B7-4021-8108-C379508DD06C}" type="pres">
      <dgm:prSet presAssocID="{CF526CA7-9B89-47E8-A223-E464DAF39E1F}" presName="spacer" presStyleCnt="0"/>
      <dgm:spPr/>
    </dgm:pt>
    <dgm:pt modelId="{ADECC44A-5393-4085-BB7C-30C9663272FA}" type="pres">
      <dgm:prSet presAssocID="{F6E44012-681A-4D59-A716-890C3A2401B4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3633D0A-90E4-4313-8CA1-23D189479D7C}" type="pres">
      <dgm:prSet presAssocID="{3D85D763-39F4-4142-BB16-C5AD1E594B4B}" presName="spacer" presStyleCnt="0"/>
      <dgm:spPr/>
    </dgm:pt>
    <dgm:pt modelId="{20696951-6330-403C-A0AB-8A9CCB75D781}" type="pres">
      <dgm:prSet presAssocID="{3899C33C-D971-41A3-BB72-B28027D2E86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88CEFB2-DC0D-48A3-B9D8-050DD5F2C25C}" type="pres">
      <dgm:prSet presAssocID="{DC728BFB-94F3-4375-A922-F6B55A606FCC}" presName="spacer" presStyleCnt="0"/>
      <dgm:spPr/>
    </dgm:pt>
    <dgm:pt modelId="{FB307F8A-8E69-4D79-BD89-1E4046E0750E}" type="pres">
      <dgm:prSet presAssocID="{78A2258B-36AC-435A-AB55-40A7FF9A3BF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F49A1DB-2987-4410-ADE2-C47E9AF8ED5A}" type="pres">
      <dgm:prSet presAssocID="{EEAB9D56-A827-41E6-AC56-F507D558BBF7}" presName="spacer" presStyleCnt="0"/>
      <dgm:spPr/>
    </dgm:pt>
    <dgm:pt modelId="{3D5C6322-B74D-4A2D-8197-35A2D9230852}" type="pres">
      <dgm:prSet presAssocID="{9B88EFD2-E705-4D6C-BBEC-A2AA47CD364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E2DF5D9F-512A-41E6-AB87-A9264F7F4DE9}" type="pres">
      <dgm:prSet presAssocID="{8DE58C28-5EA2-427D-A116-2847E9E6FF50}" presName="spacer" presStyleCnt="0"/>
      <dgm:spPr/>
    </dgm:pt>
    <dgm:pt modelId="{AC37D164-2F2E-4755-A44A-16ABB8A8D5D0}" type="pres">
      <dgm:prSet presAssocID="{F1A1F535-B1EE-4A0A-8C96-7B80511FB96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ED23B41-2D9E-454D-A1F7-B7D54E8E9DB4}" type="presOf" srcId="{F1A1F535-B1EE-4A0A-8C96-7B80511FB96A}" destId="{AC37D164-2F2E-4755-A44A-16ABB8A8D5D0}" srcOrd="0" destOrd="0" presId="urn:microsoft.com/office/officeart/2005/8/layout/vList2"/>
    <dgm:cxn modelId="{97AF0E52-FA9C-472E-9BB6-CD631B0A9F57}" type="presOf" srcId="{3899C33C-D971-41A3-BB72-B28027D2E86B}" destId="{20696951-6330-403C-A0AB-8A9CCB75D781}" srcOrd="0" destOrd="0" presId="urn:microsoft.com/office/officeart/2005/8/layout/vList2"/>
    <dgm:cxn modelId="{F18EA452-9AB8-45ED-B3F4-78609D277940}" type="presOf" srcId="{5278EDBF-5496-4019-BAAC-CF040D80D0D7}" destId="{1F401A4B-9D1A-42AE-920F-9DEA8CEBBF09}" srcOrd="0" destOrd="0" presId="urn:microsoft.com/office/officeart/2005/8/layout/vList2"/>
    <dgm:cxn modelId="{709CB67F-AA9E-463A-9F3C-9FFE1B6BB21B}" srcId="{2E0CBA9A-671C-4521-8FD6-A964E5533342}" destId="{9B88EFD2-E705-4D6C-BBEC-A2AA47CD364B}" srcOrd="6" destOrd="0" parTransId="{5526D234-CB55-49DF-B6B8-9C7823695FC9}" sibTransId="{8DE58C28-5EA2-427D-A116-2847E9E6FF50}"/>
    <dgm:cxn modelId="{D81D48AC-BE1A-4196-B264-4C2F26D48B36}" type="presOf" srcId="{2E0CBA9A-671C-4521-8FD6-A964E5533342}" destId="{F3A932A3-AE0B-477E-B52B-18197F1EF128}" srcOrd="0" destOrd="0" presId="urn:microsoft.com/office/officeart/2005/8/layout/vList2"/>
    <dgm:cxn modelId="{512B0EAF-52B5-4E72-8A85-EA5D5BB79658}" type="presOf" srcId="{F6E44012-681A-4D59-A716-890C3A2401B4}" destId="{ADECC44A-5393-4085-BB7C-30C9663272FA}" srcOrd="0" destOrd="0" presId="urn:microsoft.com/office/officeart/2005/8/layout/vList2"/>
    <dgm:cxn modelId="{B26B8EB7-962B-4017-AAE8-CAA3866240DA}" type="presOf" srcId="{9B88EFD2-E705-4D6C-BBEC-A2AA47CD364B}" destId="{3D5C6322-B74D-4A2D-8197-35A2D9230852}" srcOrd="0" destOrd="0" presId="urn:microsoft.com/office/officeart/2005/8/layout/vList2"/>
    <dgm:cxn modelId="{B62817BC-FF16-40BD-8FCA-D77D84FE11F2}" srcId="{2E0CBA9A-671C-4521-8FD6-A964E5533342}" destId="{3899C33C-D971-41A3-BB72-B28027D2E86B}" srcOrd="4" destOrd="0" parTransId="{B7FBCD09-6A1B-4195-AE6D-1BF69EC5C498}" sibTransId="{DC728BFB-94F3-4375-A922-F6B55A606FCC}"/>
    <dgm:cxn modelId="{203DFCC1-731B-43E9-A9DC-BB08FCA2E078}" srcId="{2E0CBA9A-671C-4521-8FD6-A964E5533342}" destId="{5238F012-7CB0-4540-A3BB-DC59207624B0}" srcOrd="1" destOrd="0" parTransId="{FC546B45-7498-4F8A-B960-1D7F38476BEE}" sibTransId="{1CE0A7C0-7834-4C5F-8D15-8A3C46889CA0}"/>
    <dgm:cxn modelId="{96685BCC-7811-4232-BA5F-481572FF2D19}" srcId="{2E0CBA9A-671C-4521-8FD6-A964E5533342}" destId="{F6E44012-681A-4D59-A716-890C3A2401B4}" srcOrd="3" destOrd="0" parTransId="{D9315E87-062A-47BB-B4CD-40F9928F76F7}" sibTransId="{3D85D763-39F4-4142-BB16-C5AD1E594B4B}"/>
    <dgm:cxn modelId="{6D3A9BCF-D7CC-49CF-8662-6A4E84AFF8AE}" type="presOf" srcId="{5238F012-7CB0-4540-A3BB-DC59207624B0}" destId="{1522FB35-A785-4345-BB5D-6A833F0D35CD}" srcOrd="0" destOrd="0" presId="urn:microsoft.com/office/officeart/2005/8/layout/vList2"/>
    <dgm:cxn modelId="{2BB86BD0-09E8-4B61-AF2A-238FCC1BC7A1}" srcId="{2E0CBA9A-671C-4521-8FD6-A964E5533342}" destId="{F1A1F535-B1EE-4A0A-8C96-7B80511FB96A}" srcOrd="7" destOrd="0" parTransId="{F3C5A9BA-3793-43F6-B78D-4E402BDF5666}" sibTransId="{1030CA74-BF7D-4846-AC08-457AACD6423A}"/>
    <dgm:cxn modelId="{07E79BD4-8482-400A-A518-1944BA1CC6EE}" type="presOf" srcId="{78A2258B-36AC-435A-AB55-40A7FF9A3BF8}" destId="{FB307F8A-8E69-4D79-BD89-1E4046E0750E}" srcOrd="0" destOrd="0" presId="urn:microsoft.com/office/officeart/2005/8/layout/vList2"/>
    <dgm:cxn modelId="{1751C7EB-8382-4061-9A8D-670A516707AE}" srcId="{2E0CBA9A-671C-4521-8FD6-A964E5533342}" destId="{CFA6A366-9EF3-456C-A81D-169D67EF4702}" srcOrd="0" destOrd="0" parTransId="{47793227-3F61-4E0A-B95D-C81ABEE3B7BD}" sibTransId="{59D2CA58-2117-4372-B8C8-5D7B62A4F7B8}"/>
    <dgm:cxn modelId="{95E7B3ED-9583-4E27-9E3F-FD13FB6E1FAA}" srcId="{2E0CBA9A-671C-4521-8FD6-A964E5533342}" destId="{5278EDBF-5496-4019-BAAC-CF040D80D0D7}" srcOrd="2" destOrd="0" parTransId="{0E79EA44-8377-4CB6-A541-BD85AB3106C7}" sibTransId="{CF526CA7-9B89-47E8-A223-E464DAF39E1F}"/>
    <dgm:cxn modelId="{F6F46CF1-5752-4C1D-B35B-29763CB5DF92}" srcId="{2E0CBA9A-671C-4521-8FD6-A964E5533342}" destId="{78A2258B-36AC-435A-AB55-40A7FF9A3BF8}" srcOrd="5" destOrd="0" parTransId="{A22EBC38-8D37-4D2B-8106-B04D5F2D84C5}" sibTransId="{EEAB9D56-A827-41E6-AC56-F507D558BBF7}"/>
    <dgm:cxn modelId="{A8E651FE-3A8A-4199-87D6-4FF2F3E0F326}" type="presOf" srcId="{CFA6A366-9EF3-456C-A81D-169D67EF4702}" destId="{075ADE56-FDBB-4ABC-9DFE-DBCF7EB903B5}" srcOrd="0" destOrd="0" presId="urn:microsoft.com/office/officeart/2005/8/layout/vList2"/>
    <dgm:cxn modelId="{2D9C4388-7036-436C-BDFA-B8CCE53F503E}" type="presParOf" srcId="{F3A932A3-AE0B-477E-B52B-18197F1EF128}" destId="{075ADE56-FDBB-4ABC-9DFE-DBCF7EB903B5}" srcOrd="0" destOrd="0" presId="urn:microsoft.com/office/officeart/2005/8/layout/vList2"/>
    <dgm:cxn modelId="{3FBD5CBB-ED77-42EA-A355-6788EB28549B}" type="presParOf" srcId="{F3A932A3-AE0B-477E-B52B-18197F1EF128}" destId="{21DC1BB2-467F-4E56-89D7-FADC04BCB862}" srcOrd="1" destOrd="0" presId="urn:microsoft.com/office/officeart/2005/8/layout/vList2"/>
    <dgm:cxn modelId="{D650C107-8011-410E-BEE3-77CCEAC04EC3}" type="presParOf" srcId="{F3A932A3-AE0B-477E-B52B-18197F1EF128}" destId="{1522FB35-A785-4345-BB5D-6A833F0D35CD}" srcOrd="2" destOrd="0" presId="urn:microsoft.com/office/officeart/2005/8/layout/vList2"/>
    <dgm:cxn modelId="{B0F4F567-C2B1-4B88-B260-A83AB44807A4}" type="presParOf" srcId="{F3A932A3-AE0B-477E-B52B-18197F1EF128}" destId="{0862087C-3B79-48B5-9C85-C06770094F57}" srcOrd="3" destOrd="0" presId="urn:microsoft.com/office/officeart/2005/8/layout/vList2"/>
    <dgm:cxn modelId="{F45DA349-387D-4301-A892-D94A77B52FC3}" type="presParOf" srcId="{F3A932A3-AE0B-477E-B52B-18197F1EF128}" destId="{1F401A4B-9D1A-42AE-920F-9DEA8CEBBF09}" srcOrd="4" destOrd="0" presId="urn:microsoft.com/office/officeart/2005/8/layout/vList2"/>
    <dgm:cxn modelId="{41A8C960-074A-4089-9031-D282A310FFDC}" type="presParOf" srcId="{F3A932A3-AE0B-477E-B52B-18197F1EF128}" destId="{A8204B39-C1B7-4021-8108-C379508DD06C}" srcOrd="5" destOrd="0" presId="urn:microsoft.com/office/officeart/2005/8/layout/vList2"/>
    <dgm:cxn modelId="{0A643405-B2A7-48BE-98D0-FD07CC1DFE00}" type="presParOf" srcId="{F3A932A3-AE0B-477E-B52B-18197F1EF128}" destId="{ADECC44A-5393-4085-BB7C-30C9663272FA}" srcOrd="6" destOrd="0" presId="urn:microsoft.com/office/officeart/2005/8/layout/vList2"/>
    <dgm:cxn modelId="{A4F86D5F-93A8-414C-9A95-B150718CDCFF}" type="presParOf" srcId="{F3A932A3-AE0B-477E-B52B-18197F1EF128}" destId="{A3633D0A-90E4-4313-8CA1-23D189479D7C}" srcOrd="7" destOrd="0" presId="urn:microsoft.com/office/officeart/2005/8/layout/vList2"/>
    <dgm:cxn modelId="{1A1FA2B6-BEB9-4F58-9554-0DB8EE9FD905}" type="presParOf" srcId="{F3A932A3-AE0B-477E-B52B-18197F1EF128}" destId="{20696951-6330-403C-A0AB-8A9CCB75D781}" srcOrd="8" destOrd="0" presId="urn:microsoft.com/office/officeart/2005/8/layout/vList2"/>
    <dgm:cxn modelId="{FDACABAB-656F-448C-B748-C1FB8DEB72BA}" type="presParOf" srcId="{F3A932A3-AE0B-477E-B52B-18197F1EF128}" destId="{188CEFB2-DC0D-48A3-B9D8-050DD5F2C25C}" srcOrd="9" destOrd="0" presId="urn:microsoft.com/office/officeart/2005/8/layout/vList2"/>
    <dgm:cxn modelId="{9F124FED-8B22-4868-8BCC-FB445EF52D54}" type="presParOf" srcId="{F3A932A3-AE0B-477E-B52B-18197F1EF128}" destId="{FB307F8A-8E69-4D79-BD89-1E4046E0750E}" srcOrd="10" destOrd="0" presId="urn:microsoft.com/office/officeart/2005/8/layout/vList2"/>
    <dgm:cxn modelId="{36DD78F0-0452-41AB-87DE-41E769C59462}" type="presParOf" srcId="{F3A932A3-AE0B-477E-B52B-18197F1EF128}" destId="{FF49A1DB-2987-4410-ADE2-C47E9AF8ED5A}" srcOrd="11" destOrd="0" presId="urn:microsoft.com/office/officeart/2005/8/layout/vList2"/>
    <dgm:cxn modelId="{D05756ED-E7A4-4FF0-90A3-9D05EA4612F9}" type="presParOf" srcId="{F3A932A3-AE0B-477E-B52B-18197F1EF128}" destId="{3D5C6322-B74D-4A2D-8197-35A2D9230852}" srcOrd="12" destOrd="0" presId="urn:microsoft.com/office/officeart/2005/8/layout/vList2"/>
    <dgm:cxn modelId="{A6080EDF-8636-4CF1-9AAB-C47FDCAB09F9}" type="presParOf" srcId="{F3A932A3-AE0B-477E-B52B-18197F1EF128}" destId="{E2DF5D9F-512A-41E6-AB87-A9264F7F4DE9}" srcOrd="13" destOrd="0" presId="urn:microsoft.com/office/officeart/2005/8/layout/vList2"/>
    <dgm:cxn modelId="{77810DDF-8521-4B30-96A1-796379F09254}" type="presParOf" srcId="{F3A932A3-AE0B-477E-B52B-18197F1EF128}" destId="{AC37D164-2F2E-4755-A44A-16ABB8A8D5D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13F4AE-421E-48B2-8F4E-AC87F50223D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976752-61D9-48FD-BD5C-26C8166E1FCB}">
      <dgm:prSet/>
      <dgm:spPr/>
      <dgm:t>
        <a:bodyPr/>
        <a:lstStyle/>
        <a:p>
          <a:r>
            <a:rPr lang="en-US"/>
            <a:t>We learned how important it is to structure a multi-layer data pipeline correctly.</a:t>
          </a:r>
        </a:p>
      </dgm:t>
    </dgm:pt>
    <dgm:pt modelId="{1B0391E7-C529-4B20-893A-8E961EEEAB86}" type="parTrans" cxnId="{BC2F4294-1E6B-452E-A335-8DE0D74C2382}">
      <dgm:prSet/>
      <dgm:spPr/>
      <dgm:t>
        <a:bodyPr/>
        <a:lstStyle/>
        <a:p>
          <a:endParaRPr lang="en-US"/>
        </a:p>
      </dgm:t>
    </dgm:pt>
    <dgm:pt modelId="{B78C5F28-3B2F-4643-B0DD-3E6FC5144164}" type="sibTrans" cxnId="{BC2F4294-1E6B-452E-A335-8DE0D74C2382}">
      <dgm:prSet/>
      <dgm:spPr/>
      <dgm:t>
        <a:bodyPr/>
        <a:lstStyle/>
        <a:p>
          <a:endParaRPr lang="en-US"/>
        </a:p>
      </dgm:t>
    </dgm:pt>
    <dgm:pt modelId="{4D3997EC-95C9-46FD-9DC0-BE1AF3CC85FE}">
      <dgm:prSet/>
      <dgm:spPr/>
      <dgm:t>
        <a:bodyPr/>
        <a:lstStyle/>
        <a:p>
          <a:r>
            <a:rPr lang="en-US"/>
            <a:t>We saw that API data often requires cleaning before moving into MongoDB, and that ClickHouse needs very specific formatting and authentication.</a:t>
          </a:r>
        </a:p>
      </dgm:t>
    </dgm:pt>
    <dgm:pt modelId="{A8262647-5B5B-419B-A14E-7B5C5A12B124}" type="parTrans" cxnId="{B6E6D7BB-E137-4D52-9A0F-4A8076A9B8A3}">
      <dgm:prSet/>
      <dgm:spPr/>
      <dgm:t>
        <a:bodyPr/>
        <a:lstStyle/>
        <a:p>
          <a:endParaRPr lang="en-US"/>
        </a:p>
      </dgm:t>
    </dgm:pt>
    <dgm:pt modelId="{49B6483B-83C8-4F47-82FA-BD51075C9305}" type="sibTrans" cxnId="{B6E6D7BB-E137-4D52-9A0F-4A8076A9B8A3}">
      <dgm:prSet/>
      <dgm:spPr/>
      <dgm:t>
        <a:bodyPr/>
        <a:lstStyle/>
        <a:p>
          <a:endParaRPr lang="en-US"/>
        </a:p>
      </dgm:t>
    </dgm:pt>
    <dgm:pt modelId="{0EF3A260-A927-4AC4-A728-B3E7BCB9706E}">
      <dgm:prSet/>
      <dgm:spPr/>
      <dgm:t>
        <a:bodyPr/>
        <a:lstStyle/>
        <a:p>
          <a:r>
            <a:rPr lang="en-US"/>
            <a:t>Redis taught us the importance of caching, but also the need to tune TTL settings so the dashboard remains fresh but fast.</a:t>
          </a:r>
        </a:p>
      </dgm:t>
    </dgm:pt>
    <dgm:pt modelId="{49A33893-A218-4028-BCD7-FA7FD8011B79}" type="parTrans" cxnId="{FFD9F9AE-6CA1-4B77-B657-0DF63DD079BE}">
      <dgm:prSet/>
      <dgm:spPr/>
      <dgm:t>
        <a:bodyPr/>
        <a:lstStyle/>
        <a:p>
          <a:endParaRPr lang="en-US"/>
        </a:p>
      </dgm:t>
    </dgm:pt>
    <dgm:pt modelId="{91E90C26-A801-405B-B973-99A1D1FB21A1}" type="sibTrans" cxnId="{FFD9F9AE-6CA1-4B77-B657-0DF63DD079BE}">
      <dgm:prSet/>
      <dgm:spPr/>
      <dgm:t>
        <a:bodyPr/>
        <a:lstStyle/>
        <a:p>
          <a:endParaRPr lang="en-US"/>
        </a:p>
      </dgm:t>
    </dgm:pt>
    <dgm:pt modelId="{C42F5B98-D5DB-4470-85D6-2B7AE7DE010B}">
      <dgm:prSet/>
      <dgm:spPr/>
      <dgm:t>
        <a:bodyPr/>
        <a:lstStyle/>
        <a:p>
          <a:r>
            <a:rPr lang="en-US"/>
            <a:t>Metadata tracking became a key part of our debugging workflow, letting us easily see where failures happened.</a:t>
          </a:r>
        </a:p>
      </dgm:t>
    </dgm:pt>
    <dgm:pt modelId="{F99892D9-D2E1-4611-ABA2-A48A75E65D0E}" type="parTrans" cxnId="{431377AE-CB16-462E-964D-BA920E6D22EC}">
      <dgm:prSet/>
      <dgm:spPr/>
      <dgm:t>
        <a:bodyPr/>
        <a:lstStyle/>
        <a:p>
          <a:endParaRPr lang="en-US"/>
        </a:p>
      </dgm:t>
    </dgm:pt>
    <dgm:pt modelId="{F9D05FE4-A251-4AEF-BD66-5D36C52BA55E}" type="sibTrans" cxnId="{431377AE-CB16-462E-964D-BA920E6D22EC}">
      <dgm:prSet/>
      <dgm:spPr/>
      <dgm:t>
        <a:bodyPr/>
        <a:lstStyle/>
        <a:p>
          <a:endParaRPr lang="en-US"/>
        </a:p>
      </dgm:t>
    </dgm:pt>
    <dgm:pt modelId="{6CCBC793-E776-40C6-BEA1-756918D031E3}">
      <dgm:prSet/>
      <dgm:spPr/>
      <dgm:t>
        <a:bodyPr/>
        <a:lstStyle/>
        <a:p>
          <a:r>
            <a:rPr lang="en-US"/>
            <a:t>Finally, we learned the value of clear team roles — dividing responsibilities helped us complete the project efficiently.</a:t>
          </a:r>
        </a:p>
      </dgm:t>
    </dgm:pt>
    <dgm:pt modelId="{24B2C523-53AD-4A02-A400-887B3760322D}" type="parTrans" cxnId="{5C080304-40EE-4BD6-99BD-0D118FBA3651}">
      <dgm:prSet/>
      <dgm:spPr/>
      <dgm:t>
        <a:bodyPr/>
        <a:lstStyle/>
        <a:p>
          <a:endParaRPr lang="en-US"/>
        </a:p>
      </dgm:t>
    </dgm:pt>
    <dgm:pt modelId="{F8314896-B2CD-4D33-80E9-F176D075200E}" type="sibTrans" cxnId="{5C080304-40EE-4BD6-99BD-0D118FBA3651}">
      <dgm:prSet/>
      <dgm:spPr/>
      <dgm:t>
        <a:bodyPr/>
        <a:lstStyle/>
        <a:p>
          <a:endParaRPr lang="en-US"/>
        </a:p>
      </dgm:t>
    </dgm:pt>
    <dgm:pt modelId="{B89D7730-E379-4CE7-85BD-839B9CA89F2C}" type="pres">
      <dgm:prSet presAssocID="{9313F4AE-421E-48B2-8F4E-AC87F50223D9}" presName="diagram" presStyleCnt="0">
        <dgm:presLayoutVars>
          <dgm:dir/>
          <dgm:resizeHandles val="exact"/>
        </dgm:presLayoutVars>
      </dgm:prSet>
      <dgm:spPr/>
    </dgm:pt>
    <dgm:pt modelId="{C106AFD6-2AA9-4902-94DB-8C90128428E3}" type="pres">
      <dgm:prSet presAssocID="{70976752-61D9-48FD-BD5C-26C8166E1FCB}" presName="node" presStyleLbl="node1" presStyleIdx="0" presStyleCnt="5">
        <dgm:presLayoutVars>
          <dgm:bulletEnabled val="1"/>
        </dgm:presLayoutVars>
      </dgm:prSet>
      <dgm:spPr/>
    </dgm:pt>
    <dgm:pt modelId="{C6E08B3B-1A1B-4804-9536-D68B6D5C9EF6}" type="pres">
      <dgm:prSet presAssocID="{B78C5F28-3B2F-4643-B0DD-3E6FC5144164}" presName="sibTrans" presStyleCnt="0"/>
      <dgm:spPr/>
    </dgm:pt>
    <dgm:pt modelId="{535651AC-8B87-4294-887E-1C067E651A29}" type="pres">
      <dgm:prSet presAssocID="{4D3997EC-95C9-46FD-9DC0-BE1AF3CC85FE}" presName="node" presStyleLbl="node1" presStyleIdx="1" presStyleCnt="5">
        <dgm:presLayoutVars>
          <dgm:bulletEnabled val="1"/>
        </dgm:presLayoutVars>
      </dgm:prSet>
      <dgm:spPr/>
    </dgm:pt>
    <dgm:pt modelId="{37268C2C-8E1F-43B0-B996-3F1B90887529}" type="pres">
      <dgm:prSet presAssocID="{49B6483B-83C8-4F47-82FA-BD51075C9305}" presName="sibTrans" presStyleCnt="0"/>
      <dgm:spPr/>
    </dgm:pt>
    <dgm:pt modelId="{B6D4600C-8E0D-43AE-B6B7-974ED4EB66DE}" type="pres">
      <dgm:prSet presAssocID="{0EF3A260-A927-4AC4-A728-B3E7BCB9706E}" presName="node" presStyleLbl="node1" presStyleIdx="2" presStyleCnt="5">
        <dgm:presLayoutVars>
          <dgm:bulletEnabled val="1"/>
        </dgm:presLayoutVars>
      </dgm:prSet>
      <dgm:spPr/>
    </dgm:pt>
    <dgm:pt modelId="{C3756653-C594-4220-A7AC-00F06225A0F3}" type="pres">
      <dgm:prSet presAssocID="{91E90C26-A801-405B-B973-99A1D1FB21A1}" presName="sibTrans" presStyleCnt="0"/>
      <dgm:spPr/>
    </dgm:pt>
    <dgm:pt modelId="{7B91F74C-B258-4B42-B090-69D2DC0EF28B}" type="pres">
      <dgm:prSet presAssocID="{C42F5B98-D5DB-4470-85D6-2B7AE7DE010B}" presName="node" presStyleLbl="node1" presStyleIdx="3" presStyleCnt="5">
        <dgm:presLayoutVars>
          <dgm:bulletEnabled val="1"/>
        </dgm:presLayoutVars>
      </dgm:prSet>
      <dgm:spPr/>
    </dgm:pt>
    <dgm:pt modelId="{399E3915-2A40-4A5F-9D3A-62CFD345B364}" type="pres">
      <dgm:prSet presAssocID="{F9D05FE4-A251-4AEF-BD66-5D36C52BA55E}" presName="sibTrans" presStyleCnt="0"/>
      <dgm:spPr/>
    </dgm:pt>
    <dgm:pt modelId="{82056223-5C3B-49DE-B2F6-FE75A55EA1AA}" type="pres">
      <dgm:prSet presAssocID="{6CCBC793-E776-40C6-BEA1-756918D031E3}" presName="node" presStyleLbl="node1" presStyleIdx="4" presStyleCnt="5">
        <dgm:presLayoutVars>
          <dgm:bulletEnabled val="1"/>
        </dgm:presLayoutVars>
      </dgm:prSet>
      <dgm:spPr/>
    </dgm:pt>
  </dgm:ptLst>
  <dgm:cxnLst>
    <dgm:cxn modelId="{5C080304-40EE-4BD6-99BD-0D118FBA3651}" srcId="{9313F4AE-421E-48B2-8F4E-AC87F50223D9}" destId="{6CCBC793-E776-40C6-BEA1-756918D031E3}" srcOrd="4" destOrd="0" parTransId="{24B2C523-53AD-4A02-A400-887B3760322D}" sibTransId="{F8314896-B2CD-4D33-80E9-F176D075200E}"/>
    <dgm:cxn modelId="{C4D9A62F-AA74-4DC9-A5C8-002D998E5C5E}" type="presOf" srcId="{70976752-61D9-48FD-BD5C-26C8166E1FCB}" destId="{C106AFD6-2AA9-4902-94DB-8C90128428E3}" srcOrd="0" destOrd="0" presId="urn:microsoft.com/office/officeart/2005/8/layout/default"/>
    <dgm:cxn modelId="{C1113F65-F409-4B2C-95F9-C33F12ACD106}" type="presOf" srcId="{C42F5B98-D5DB-4470-85D6-2B7AE7DE010B}" destId="{7B91F74C-B258-4B42-B090-69D2DC0EF28B}" srcOrd="0" destOrd="0" presId="urn:microsoft.com/office/officeart/2005/8/layout/default"/>
    <dgm:cxn modelId="{96572B67-7E2D-4B34-944D-B13B9F94D641}" type="presOf" srcId="{4D3997EC-95C9-46FD-9DC0-BE1AF3CC85FE}" destId="{535651AC-8B87-4294-887E-1C067E651A29}" srcOrd="0" destOrd="0" presId="urn:microsoft.com/office/officeart/2005/8/layout/default"/>
    <dgm:cxn modelId="{BC2F4294-1E6B-452E-A335-8DE0D74C2382}" srcId="{9313F4AE-421E-48B2-8F4E-AC87F50223D9}" destId="{70976752-61D9-48FD-BD5C-26C8166E1FCB}" srcOrd="0" destOrd="0" parTransId="{1B0391E7-C529-4B20-893A-8E961EEEAB86}" sibTransId="{B78C5F28-3B2F-4643-B0DD-3E6FC5144164}"/>
    <dgm:cxn modelId="{C8439994-59CE-4063-B255-0A4506B26D04}" type="presOf" srcId="{9313F4AE-421E-48B2-8F4E-AC87F50223D9}" destId="{B89D7730-E379-4CE7-85BD-839B9CA89F2C}" srcOrd="0" destOrd="0" presId="urn:microsoft.com/office/officeart/2005/8/layout/default"/>
    <dgm:cxn modelId="{431377AE-CB16-462E-964D-BA920E6D22EC}" srcId="{9313F4AE-421E-48B2-8F4E-AC87F50223D9}" destId="{C42F5B98-D5DB-4470-85D6-2B7AE7DE010B}" srcOrd="3" destOrd="0" parTransId="{F99892D9-D2E1-4611-ABA2-A48A75E65D0E}" sibTransId="{F9D05FE4-A251-4AEF-BD66-5D36C52BA55E}"/>
    <dgm:cxn modelId="{FFD9F9AE-6CA1-4B77-B657-0DF63DD079BE}" srcId="{9313F4AE-421E-48B2-8F4E-AC87F50223D9}" destId="{0EF3A260-A927-4AC4-A728-B3E7BCB9706E}" srcOrd="2" destOrd="0" parTransId="{49A33893-A218-4028-BCD7-FA7FD8011B79}" sibTransId="{91E90C26-A801-405B-B973-99A1D1FB21A1}"/>
    <dgm:cxn modelId="{952D76B4-5638-4A89-BA17-48F8B0F756C9}" type="presOf" srcId="{0EF3A260-A927-4AC4-A728-B3E7BCB9706E}" destId="{B6D4600C-8E0D-43AE-B6B7-974ED4EB66DE}" srcOrd="0" destOrd="0" presId="urn:microsoft.com/office/officeart/2005/8/layout/default"/>
    <dgm:cxn modelId="{B6E6D7BB-E137-4D52-9A0F-4A8076A9B8A3}" srcId="{9313F4AE-421E-48B2-8F4E-AC87F50223D9}" destId="{4D3997EC-95C9-46FD-9DC0-BE1AF3CC85FE}" srcOrd="1" destOrd="0" parTransId="{A8262647-5B5B-419B-A14E-7B5C5A12B124}" sibTransId="{49B6483B-83C8-4F47-82FA-BD51075C9305}"/>
    <dgm:cxn modelId="{F75DB0D3-A9CD-4304-91DE-7A158710729E}" type="presOf" srcId="{6CCBC793-E776-40C6-BEA1-756918D031E3}" destId="{82056223-5C3B-49DE-B2F6-FE75A55EA1AA}" srcOrd="0" destOrd="0" presId="urn:microsoft.com/office/officeart/2005/8/layout/default"/>
    <dgm:cxn modelId="{B62501ED-CA26-47EA-BFCC-CFF0EBDC583F}" type="presParOf" srcId="{B89D7730-E379-4CE7-85BD-839B9CA89F2C}" destId="{C106AFD6-2AA9-4902-94DB-8C90128428E3}" srcOrd="0" destOrd="0" presId="urn:microsoft.com/office/officeart/2005/8/layout/default"/>
    <dgm:cxn modelId="{F0254327-E9FD-4DF8-84C4-A17005D70184}" type="presParOf" srcId="{B89D7730-E379-4CE7-85BD-839B9CA89F2C}" destId="{C6E08B3B-1A1B-4804-9536-D68B6D5C9EF6}" srcOrd="1" destOrd="0" presId="urn:microsoft.com/office/officeart/2005/8/layout/default"/>
    <dgm:cxn modelId="{BA47DD04-93DC-48C3-9B97-55581D6411B9}" type="presParOf" srcId="{B89D7730-E379-4CE7-85BD-839B9CA89F2C}" destId="{535651AC-8B87-4294-887E-1C067E651A29}" srcOrd="2" destOrd="0" presId="urn:microsoft.com/office/officeart/2005/8/layout/default"/>
    <dgm:cxn modelId="{8CE51F3A-2561-44BB-B37D-FEC0CE505B47}" type="presParOf" srcId="{B89D7730-E379-4CE7-85BD-839B9CA89F2C}" destId="{37268C2C-8E1F-43B0-B996-3F1B90887529}" srcOrd="3" destOrd="0" presId="urn:microsoft.com/office/officeart/2005/8/layout/default"/>
    <dgm:cxn modelId="{7A9E547E-5D5B-4EF7-849A-D189410290F4}" type="presParOf" srcId="{B89D7730-E379-4CE7-85BD-839B9CA89F2C}" destId="{B6D4600C-8E0D-43AE-B6B7-974ED4EB66DE}" srcOrd="4" destOrd="0" presId="urn:microsoft.com/office/officeart/2005/8/layout/default"/>
    <dgm:cxn modelId="{7D0E8301-41E9-4FE7-A34F-ABF9FC227554}" type="presParOf" srcId="{B89D7730-E379-4CE7-85BD-839B9CA89F2C}" destId="{C3756653-C594-4220-A7AC-00F06225A0F3}" srcOrd="5" destOrd="0" presId="urn:microsoft.com/office/officeart/2005/8/layout/default"/>
    <dgm:cxn modelId="{D92C3226-C8CB-4BA4-BCDF-39D715806A35}" type="presParOf" srcId="{B89D7730-E379-4CE7-85BD-839B9CA89F2C}" destId="{7B91F74C-B258-4B42-B090-69D2DC0EF28B}" srcOrd="6" destOrd="0" presId="urn:microsoft.com/office/officeart/2005/8/layout/default"/>
    <dgm:cxn modelId="{B13B66F5-F78A-4F37-9E00-63ADAE7D9F15}" type="presParOf" srcId="{B89D7730-E379-4CE7-85BD-839B9CA89F2C}" destId="{399E3915-2A40-4A5F-9D3A-62CFD345B364}" srcOrd="7" destOrd="0" presId="urn:microsoft.com/office/officeart/2005/8/layout/default"/>
    <dgm:cxn modelId="{B644DADA-A89E-4216-A818-959D7D0A3D9B}" type="presParOf" srcId="{B89D7730-E379-4CE7-85BD-839B9CA89F2C}" destId="{82056223-5C3B-49DE-B2F6-FE75A55EA1A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A8E9A3-6D24-415B-A908-21E670EC2E1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CF9D9DE-0B9C-4A68-97DC-8370AABCEE62}">
      <dgm:prSet/>
      <dgm:spPr/>
      <dgm:t>
        <a:bodyPr/>
        <a:lstStyle/>
        <a:p>
          <a:r>
            <a:rPr lang="en-IN"/>
            <a:t>Conclusion:</a:t>
          </a:r>
          <a:endParaRPr lang="en-US"/>
        </a:p>
      </dgm:t>
    </dgm:pt>
    <dgm:pt modelId="{37F6F3F0-08FA-4F46-AA65-FCBAB3D826EC}" type="parTrans" cxnId="{2C650CF3-BA8B-431B-8435-10D29BA4D063}">
      <dgm:prSet/>
      <dgm:spPr/>
      <dgm:t>
        <a:bodyPr/>
        <a:lstStyle/>
        <a:p>
          <a:endParaRPr lang="en-US"/>
        </a:p>
      </dgm:t>
    </dgm:pt>
    <dgm:pt modelId="{F6E3F189-64A8-4EE5-881A-37DC860B020B}" type="sibTrans" cxnId="{2C650CF3-BA8B-431B-8435-10D29BA4D063}">
      <dgm:prSet/>
      <dgm:spPr/>
      <dgm:t>
        <a:bodyPr/>
        <a:lstStyle/>
        <a:p>
          <a:endParaRPr lang="en-US"/>
        </a:p>
      </dgm:t>
    </dgm:pt>
    <dgm:pt modelId="{862B9B56-93D1-4978-9A4C-39FBA8AD1BA3}">
      <dgm:prSet/>
      <dgm:spPr/>
      <dgm:t>
        <a:bodyPr/>
        <a:lstStyle/>
        <a:p>
          <a:r>
            <a:rPr lang="en-IN"/>
            <a:t>Successfully built an end-to-end weather data pipeline</a:t>
          </a:r>
          <a:endParaRPr lang="en-US"/>
        </a:p>
      </dgm:t>
    </dgm:pt>
    <dgm:pt modelId="{A56AF6F1-BF23-4F4D-89E8-9908E197731E}" type="parTrans" cxnId="{CE7C6419-11C6-4C58-A577-66C109968224}">
      <dgm:prSet/>
      <dgm:spPr/>
      <dgm:t>
        <a:bodyPr/>
        <a:lstStyle/>
        <a:p>
          <a:endParaRPr lang="en-US"/>
        </a:p>
      </dgm:t>
    </dgm:pt>
    <dgm:pt modelId="{FAD27FA5-930F-4EDA-86CD-054FB4473535}" type="sibTrans" cxnId="{CE7C6419-11C6-4C58-A577-66C109968224}">
      <dgm:prSet/>
      <dgm:spPr/>
      <dgm:t>
        <a:bodyPr/>
        <a:lstStyle/>
        <a:p>
          <a:endParaRPr lang="en-US"/>
        </a:p>
      </dgm:t>
    </dgm:pt>
    <dgm:pt modelId="{CB79D7B5-A32C-4921-82E9-CE4FA8184EB1}">
      <dgm:prSet/>
      <dgm:spPr/>
      <dgm:t>
        <a:bodyPr/>
        <a:lstStyle/>
        <a:p>
          <a:r>
            <a:rPr lang="en-IN"/>
            <a:t>Automated data ingestion, transformation, warehousing, caching, and visualization</a:t>
          </a:r>
          <a:endParaRPr lang="en-US"/>
        </a:p>
      </dgm:t>
    </dgm:pt>
    <dgm:pt modelId="{973A6F01-6C7F-474B-A913-85994B017DF3}" type="parTrans" cxnId="{0665DDE2-82F3-4E6E-8748-29CB69BDF90E}">
      <dgm:prSet/>
      <dgm:spPr/>
      <dgm:t>
        <a:bodyPr/>
        <a:lstStyle/>
        <a:p>
          <a:endParaRPr lang="en-US"/>
        </a:p>
      </dgm:t>
    </dgm:pt>
    <dgm:pt modelId="{926B779F-6821-4943-BDC5-C4E602C92E9D}" type="sibTrans" cxnId="{0665DDE2-82F3-4E6E-8748-29CB69BDF90E}">
      <dgm:prSet/>
      <dgm:spPr/>
      <dgm:t>
        <a:bodyPr/>
        <a:lstStyle/>
        <a:p>
          <a:endParaRPr lang="en-US"/>
        </a:p>
      </dgm:t>
    </dgm:pt>
    <dgm:pt modelId="{5D58C7AF-6558-42E5-899B-75EF2ABE26FC}">
      <dgm:prSet/>
      <dgm:spPr/>
      <dgm:t>
        <a:bodyPr/>
        <a:lstStyle/>
        <a:p>
          <a:r>
            <a:rPr lang="en-IN"/>
            <a:t>Implemented metadata tracking and sync strategies</a:t>
          </a:r>
          <a:endParaRPr lang="en-US"/>
        </a:p>
      </dgm:t>
    </dgm:pt>
    <dgm:pt modelId="{F0A17FE8-C589-43F1-8B47-6277D533D2BC}" type="parTrans" cxnId="{A654BC06-CA31-45EA-8346-9546D8E68E3F}">
      <dgm:prSet/>
      <dgm:spPr/>
      <dgm:t>
        <a:bodyPr/>
        <a:lstStyle/>
        <a:p>
          <a:endParaRPr lang="en-US"/>
        </a:p>
      </dgm:t>
    </dgm:pt>
    <dgm:pt modelId="{327C4436-5978-4E8E-A9D2-D82295D2C209}" type="sibTrans" cxnId="{A654BC06-CA31-45EA-8346-9546D8E68E3F}">
      <dgm:prSet/>
      <dgm:spPr/>
      <dgm:t>
        <a:bodyPr/>
        <a:lstStyle/>
        <a:p>
          <a:endParaRPr lang="en-US"/>
        </a:p>
      </dgm:t>
    </dgm:pt>
    <dgm:pt modelId="{46903D1D-FE75-4A9E-9915-3D0A6B056FF3}">
      <dgm:prSet/>
      <dgm:spPr/>
      <dgm:t>
        <a:bodyPr/>
        <a:lstStyle/>
        <a:p>
          <a:r>
            <a:rPr lang="en-IN"/>
            <a:t>Dashboard provides fast, clear insights using real data</a:t>
          </a:r>
          <a:endParaRPr lang="en-US"/>
        </a:p>
      </dgm:t>
    </dgm:pt>
    <dgm:pt modelId="{7E61A3AE-575F-4EA7-9DED-422E48F58F88}" type="parTrans" cxnId="{84952047-E902-4077-9878-EE61777F9FE7}">
      <dgm:prSet/>
      <dgm:spPr/>
      <dgm:t>
        <a:bodyPr/>
        <a:lstStyle/>
        <a:p>
          <a:endParaRPr lang="en-US"/>
        </a:p>
      </dgm:t>
    </dgm:pt>
    <dgm:pt modelId="{48FE4F72-D025-4C4C-A7AE-E2C5DD154B07}" type="sibTrans" cxnId="{84952047-E902-4077-9878-EE61777F9FE7}">
      <dgm:prSet/>
      <dgm:spPr/>
      <dgm:t>
        <a:bodyPr/>
        <a:lstStyle/>
        <a:p>
          <a:endParaRPr lang="en-US"/>
        </a:p>
      </dgm:t>
    </dgm:pt>
    <dgm:pt modelId="{41FB88F4-9620-4DC5-8FFA-D41812EBC635}">
      <dgm:prSet/>
      <dgm:spPr/>
      <dgm:t>
        <a:bodyPr/>
        <a:lstStyle/>
        <a:p>
          <a:r>
            <a:rPr lang="en-IN"/>
            <a:t>Future Work:</a:t>
          </a:r>
          <a:endParaRPr lang="en-US"/>
        </a:p>
      </dgm:t>
    </dgm:pt>
    <dgm:pt modelId="{CFCACE6A-E9B5-453F-B0A8-5F0E304C5320}" type="parTrans" cxnId="{1E828694-A4A2-47BF-BB38-0B5272E9986E}">
      <dgm:prSet/>
      <dgm:spPr/>
      <dgm:t>
        <a:bodyPr/>
        <a:lstStyle/>
        <a:p>
          <a:endParaRPr lang="en-US"/>
        </a:p>
      </dgm:t>
    </dgm:pt>
    <dgm:pt modelId="{3E100584-10CE-48B2-B220-B58949C25F27}" type="sibTrans" cxnId="{1E828694-A4A2-47BF-BB38-0B5272E9986E}">
      <dgm:prSet/>
      <dgm:spPr/>
      <dgm:t>
        <a:bodyPr/>
        <a:lstStyle/>
        <a:p>
          <a:endParaRPr lang="en-US"/>
        </a:p>
      </dgm:t>
    </dgm:pt>
    <dgm:pt modelId="{FA0EBF29-AF2B-4098-8EE1-EF2A54DFE0D9}">
      <dgm:prSet/>
      <dgm:spPr/>
      <dgm:t>
        <a:bodyPr/>
        <a:lstStyle/>
        <a:p>
          <a:r>
            <a:rPr lang="en-IN"/>
            <a:t>Automate the ETL pipeline with Airflow/Prefect</a:t>
          </a:r>
          <a:endParaRPr lang="en-US"/>
        </a:p>
      </dgm:t>
    </dgm:pt>
    <dgm:pt modelId="{9286BC8C-5FC2-4FFA-98C3-96AD7D4A94F6}" type="parTrans" cxnId="{7AE09038-80E8-434B-8D98-FC7A9615DF04}">
      <dgm:prSet/>
      <dgm:spPr/>
      <dgm:t>
        <a:bodyPr/>
        <a:lstStyle/>
        <a:p>
          <a:endParaRPr lang="en-US"/>
        </a:p>
      </dgm:t>
    </dgm:pt>
    <dgm:pt modelId="{46735287-9035-481F-BB0E-5F92413268D3}" type="sibTrans" cxnId="{7AE09038-80E8-434B-8D98-FC7A9615DF04}">
      <dgm:prSet/>
      <dgm:spPr/>
      <dgm:t>
        <a:bodyPr/>
        <a:lstStyle/>
        <a:p>
          <a:endParaRPr lang="en-US"/>
        </a:p>
      </dgm:t>
    </dgm:pt>
    <dgm:pt modelId="{BC17885B-5978-4A56-BD54-C19975A67AF3}">
      <dgm:prSet/>
      <dgm:spPr/>
      <dgm:t>
        <a:bodyPr/>
        <a:lstStyle/>
        <a:p>
          <a:r>
            <a:rPr lang="en-IN"/>
            <a:t>Add incremental sync instead of full refresh</a:t>
          </a:r>
          <a:endParaRPr lang="en-US"/>
        </a:p>
      </dgm:t>
    </dgm:pt>
    <dgm:pt modelId="{062BA3CA-27D8-404A-A528-E770C7592CFA}" type="parTrans" cxnId="{447D7F6B-FA02-4E0F-ACE0-81FD2A2D931F}">
      <dgm:prSet/>
      <dgm:spPr/>
      <dgm:t>
        <a:bodyPr/>
        <a:lstStyle/>
        <a:p>
          <a:endParaRPr lang="en-US"/>
        </a:p>
      </dgm:t>
    </dgm:pt>
    <dgm:pt modelId="{07BDEE6E-08C9-4E83-A527-C9CD82CCCB21}" type="sibTrans" cxnId="{447D7F6B-FA02-4E0F-ACE0-81FD2A2D931F}">
      <dgm:prSet/>
      <dgm:spPr/>
      <dgm:t>
        <a:bodyPr/>
        <a:lstStyle/>
        <a:p>
          <a:endParaRPr lang="en-US"/>
        </a:p>
      </dgm:t>
    </dgm:pt>
    <dgm:pt modelId="{39BFC22E-45A3-4996-9A19-B1F66102D630}">
      <dgm:prSet/>
      <dgm:spPr/>
      <dgm:t>
        <a:bodyPr/>
        <a:lstStyle/>
        <a:p>
          <a:r>
            <a:rPr lang="en-IN"/>
            <a:t>Deploy dashboard to cloud (AWS/GCP)</a:t>
          </a:r>
          <a:endParaRPr lang="en-US"/>
        </a:p>
      </dgm:t>
    </dgm:pt>
    <dgm:pt modelId="{697714F3-65BA-43CE-BF8E-7D0289973787}" type="parTrans" cxnId="{40D2542E-A4A3-48A0-BD79-DB7CC09667AA}">
      <dgm:prSet/>
      <dgm:spPr/>
      <dgm:t>
        <a:bodyPr/>
        <a:lstStyle/>
        <a:p>
          <a:endParaRPr lang="en-US"/>
        </a:p>
      </dgm:t>
    </dgm:pt>
    <dgm:pt modelId="{4DFA97D8-C424-41B5-9A05-BD99172DFAC6}" type="sibTrans" cxnId="{40D2542E-A4A3-48A0-BD79-DB7CC09667AA}">
      <dgm:prSet/>
      <dgm:spPr/>
      <dgm:t>
        <a:bodyPr/>
        <a:lstStyle/>
        <a:p>
          <a:endParaRPr lang="en-US"/>
        </a:p>
      </dgm:t>
    </dgm:pt>
    <dgm:pt modelId="{553F8253-20F3-4001-97D4-893E9FAB3328}">
      <dgm:prSet/>
      <dgm:spPr/>
      <dgm:t>
        <a:bodyPr/>
        <a:lstStyle/>
        <a:p>
          <a:r>
            <a:rPr lang="en-IN"/>
            <a:t>Add more weather attributes (humidity, wind, air quality)</a:t>
          </a:r>
          <a:endParaRPr lang="en-US"/>
        </a:p>
      </dgm:t>
    </dgm:pt>
    <dgm:pt modelId="{EE0B99A6-5AF4-40D4-8898-23EA1FAE8841}" type="parTrans" cxnId="{BE54C096-69C1-4920-B40C-8E8C8E079323}">
      <dgm:prSet/>
      <dgm:spPr/>
      <dgm:t>
        <a:bodyPr/>
        <a:lstStyle/>
        <a:p>
          <a:endParaRPr lang="en-US"/>
        </a:p>
      </dgm:t>
    </dgm:pt>
    <dgm:pt modelId="{F7D1A7F0-09EC-4C8F-8A91-E933049AB85C}" type="sibTrans" cxnId="{BE54C096-69C1-4920-B40C-8E8C8E079323}">
      <dgm:prSet/>
      <dgm:spPr/>
      <dgm:t>
        <a:bodyPr/>
        <a:lstStyle/>
        <a:p>
          <a:endParaRPr lang="en-US"/>
        </a:p>
      </dgm:t>
    </dgm:pt>
    <dgm:pt modelId="{557F47E9-E69F-493B-B555-CF17D8B46E0E}">
      <dgm:prSet/>
      <dgm:spPr/>
      <dgm:t>
        <a:bodyPr/>
        <a:lstStyle/>
        <a:p>
          <a:r>
            <a:rPr lang="en-IN"/>
            <a:t>Enhance dashboard with interactive charts and alerts</a:t>
          </a:r>
          <a:endParaRPr lang="en-US"/>
        </a:p>
      </dgm:t>
    </dgm:pt>
    <dgm:pt modelId="{49EC2849-59CF-4F08-BBFA-CE6608DA038C}" type="parTrans" cxnId="{5D099628-A126-4A02-8E98-8B36A199CB59}">
      <dgm:prSet/>
      <dgm:spPr/>
      <dgm:t>
        <a:bodyPr/>
        <a:lstStyle/>
        <a:p>
          <a:endParaRPr lang="en-US"/>
        </a:p>
      </dgm:t>
    </dgm:pt>
    <dgm:pt modelId="{F6DED2F7-52B4-425D-80E8-DC70AD222CE5}" type="sibTrans" cxnId="{5D099628-A126-4A02-8E98-8B36A199CB59}">
      <dgm:prSet/>
      <dgm:spPr/>
      <dgm:t>
        <a:bodyPr/>
        <a:lstStyle/>
        <a:p>
          <a:endParaRPr lang="en-US"/>
        </a:p>
      </dgm:t>
    </dgm:pt>
    <dgm:pt modelId="{A308373C-A778-4E76-B58A-F21E0F47FBF6}" type="pres">
      <dgm:prSet presAssocID="{28A8E9A3-6D24-415B-A908-21E670EC2E19}" presName="Name0" presStyleCnt="0">
        <dgm:presLayoutVars>
          <dgm:dir/>
          <dgm:resizeHandles val="exact"/>
        </dgm:presLayoutVars>
      </dgm:prSet>
      <dgm:spPr/>
    </dgm:pt>
    <dgm:pt modelId="{0623F67B-565C-4E1B-ACAC-25364FA6346B}" type="pres">
      <dgm:prSet presAssocID="{CCF9D9DE-0B9C-4A68-97DC-8370AABCEE62}" presName="node" presStyleLbl="node1" presStyleIdx="0" presStyleCnt="2">
        <dgm:presLayoutVars>
          <dgm:bulletEnabled val="1"/>
        </dgm:presLayoutVars>
      </dgm:prSet>
      <dgm:spPr/>
    </dgm:pt>
    <dgm:pt modelId="{7B68D9BF-924F-427F-AE2A-3CDDB3A19274}" type="pres">
      <dgm:prSet presAssocID="{F6E3F189-64A8-4EE5-881A-37DC860B020B}" presName="sibTrans" presStyleLbl="sibTrans1D1" presStyleIdx="0" presStyleCnt="1"/>
      <dgm:spPr/>
    </dgm:pt>
    <dgm:pt modelId="{19D92C85-80F6-4331-AB18-9BBEE99134A4}" type="pres">
      <dgm:prSet presAssocID="{F6E3F189-64A8-4EE5-881A-37DC860B020B}" presName="connectorText" presStyleLbl="sibTrans1D1" presStyleIdx="0" presStyleCnt="1"/>
      <dgm:spPr/>
    </dgm:pt>
    <dgm:pt modelId="{CB7CD86D-A01F-46C7-9B85-496567C85502}" type="pres">
      <dgm:prSet presAssocID="{41FB88F4-9620-4DC5-8FFA-D41812EBC635}" presName="node" presStyleLbl="node1" presStyleIdx="1" presStyleCnt="2">
        <dgm:presLayoutVars>
          <dgm:bulletEnabled val="1"/>
        </dgm:presLayoutVars>
      </dgm:prSet>
      <dgm:spPr/>
    </dgm:pt>
  </dgm:ptLst>
  <dgm:cxnLst>
    <dgm:cxn modelId="{A654BC06-CA31-45EA-8346-9546D8E68E3F}" srcId="{CCF9D9DE-0B9C-4A68-97DC-8370AABCEE62}" destId="{5D58C7AF-6558-42E5-899B-75EF2ABE26FC}" srcOrd="2" destOrd="0" parTransId="{F0A17FE8-C589-43F1-8B47-6277D533D2BC}" sibTransId="{327C4436-5978-4E8E-A9D2-D82295D2C209}"/>
    <dgm:cxn modelId="{5227C210-4B64-4411-9A98-C6CFE81E1997}" type="presOf" srcId="{FA0EBF29-AF2B-4098-8EE1-EF2A54DFE0D9}" destId="{CB7CD86D-A01F-46C7-9B85-496567C85502}" srcOrd="0" destOrd="1" presId="urn:microsoft.com/office/officeart/2016/7/layout/RepeatingBendingProcessNew"/>
    <dgm:cxn modelId="{93677217-581C-4784-A3F0-965ECAC3B455}" type="presOf" srcId="{862B9B56-93D1-4978-9A4C-39FBA8AD1BA3}" destId="{0623F67B-565C-4E1B-ACAC-25364FA6346B}" srcOrd="0" destOrd="1" presId="urn:microsoft.com/office/officeart/2016/7/layout/RepeatingBendingProcessNew"/>
    <dgm:cxn modelId="{CE7C6419-11C6-4C58-A577-66C109968224}" srcId="{CCF9D9DE-0B9C-4A68-97DC-8370AABCEE62}" destId="{862B9B56-93D1-4978-9A4C-39FBA8AD1BA3}" srcOrd="0" destOrd="0" parTransId="{A56AF6F1-BF23-4F4D-89E8-9908E197731E}" sibTransId="{FAD27FA5-930F-4EDA-86CD-054FB4473535}"/>
    <dgm:cxn modelId="{5D099628-A126-4A02-8E98-8B36A199CB59}" srcId="{41FB88F4-9620-4DC5-8FFA-D41812EBC635}" destId="{557F47E9-E69F-493B-B555-CF17D8B46E0E}" srcOrd="4" destOrd="0" parTransId="{49EC2849-59CF-4F08-BBFA-CE6608DA038C}" sibTransId="{F6DED2F7-52B4-425D-80E8-DC70AD222CE5}"/>
    <dgm:cxn modelId="{E63CAD2A-9D85-4A0E-81DD-6D6D4D6DC23F}" type="presOf" srcId="{553F8253-20F3-4001-97D4-893E9FAB3328}" destId="{CB7CD86D-A01F-46C7-9B85-496567C85502}" srcOrd="0" destOrd="4" presId="urn:microsoft.com/office/officeart/2016/7/layout/RepeatingBendingProcessNew"/>
    <dgm:cxn modelId="{40D2542E-A4A3-48A0-BD79-DB7CC09667AA}" srcId="{41FB88F4-9620-4DC5-8FFA-D41812EBC635}" destId="{39BFC22E-45A3-4996-9A19-B1F66102D630}" srcOrd="2" destOrd="0" parTransId="{697714F3-65BA-43CE-BF8E-7D0289973787}" sibTransId="{4DFA97D8-C424-41B5-9A05-BD99172DFAC6}"/>
    <dgm:cxn modelId="{7AE09038-80E8-434B-8D98-FC7A9615DF04}" srcId="{41FB88F4-9620-4DC5-8FFA-D41812EBC635}" destId="{FA0EBF29-AF2B-4098-8EE1-EF2A54DFE0D9}" srcOrd="0" destOrd="0" parTransId="{9286BC8C-5FC2-4FFA-98C3-96AD7D4A94F6}" sibTransId="{46735287-9035-481F-BB0E-5F92413268D3}"/>
    <dgm:cxn modelId="{84952047-E902-4077-9878-EE61777F9FE7}" srcId="{CCF9D9DE-0B9C-4A68-97DC-8370AABCEE62}" destId="{46903D1D-FE75-4A9E-9915-3D0A6B056FF3}" srcOrd="3" destOrd="0" parTransId="{7E61A3AE-575F-4EA7-9DED-422E48F58F88}" sibTransId="{48FE4F72-D025-4C4C-A7AE-E2C5DD154B07}"/>
    <dgm:cxn modelId="{447D7F6B-FA02-4E0F-ACE0-81FD2A2D931F}" srcId="{41FB88F4-9620-4DC5-8FFA-D41812EBC635}" destId="{BC17885B-5978-4A56-BD54-C19975A67AF3}" srcOrd="1" destOrd="0" parTransId="{062BA3CA-27D8-404A-A528-E770C7592CFA}" sibTransId="{07BDEE6E-08C9-4E83-A527-C9CD82CCCB21}"/>
    <dgm:cxn modelId="{2EABF453-688A-4562-8B06-B982A07E85E8}" type="presOf" srcId="{39BFC22E-45A3-4996-9A19-B1F66102D630}" destId="{CB7CD86D-A01F-46C7-9B85-496567C85502}" srcOrd="0" destOrd="3" presId="urn:microsoft.com/office/officeart/2016/7/layout/RepeatingBendingProcessNew"/>
    <dgm:cxn modelId="{8C553659-B07C-437F-8D5C-C02C812FBA7F}" type="presOf" srcId="{28A8E9A3-6D24-415B-A908-21E670EC2E19}" destId="{A308373C-A778-4E76-B58A-F21E0F47FBF6}" srcOrd="0" destOrd="0" presId="urn:microsoft.com/office/officeart/2016/7/layout/RepeatingBendingProcessNew"/>
    <dgm:cxn modelId="{A9515B82-5728-47CD-992C-7C9CF34632B6}" type="presOf" srcId="{CB79D7B5-A32C-4921-82E9-CE4FA8184EB1}" destId="{0623F67B-565C-4E1B-ACAC-25364FA6346B}" srcOrd="0" destOrd="2" presId="urn:microsoft.com/office/officeart/2016/7/layout/RepeatingBendingProcessNew"/>
    <dgm:cxn modelId="{1ABC6D88-BDCE-4234-9564-C30E11F91052}" type="presOf" srcId="{CCF9D9DE-0B9C-4A68-97DC-8370AABCEE62}" destId="{0623F67B-565C-4E1B-ACAC-25364FA6346B}" srcOrd="0" destOrd="0" presId="urn:microsoft.com/office/officeart/2016/7/layout/RepeatingBendingProcessNew"/>
    <dgm:cxn modelId="{1E828694-A4A2-47BF-BB38-0B5272E9986E}" srcId="{28A8E9A3-6D24-415B-A908-21E670EC2E19}" destId="{41FB88F4-9620-4DC5-8FFA-D41812EBC635}" srcOrd="1" destOrd="0" parTransId="{CFCACE6A-E9B5-453F-B0A8-5F0E304C5320}" sibTransId="{3E100584-10CE-48B2-B220-B58949C25F27}"/>
    <dgm:cxn modelId="{EEBE4895-7F51-4CF9-9CEF-C4681D3C170D}" type="presOf" srcId="{F6E3F189-64A8-4EE5-881A-37DC860B020B}" destId="{7B68D9BF-924F-427F-AE2A-3CDDB3A19274}" srcOrd="0" destOrd="0" presId="urn:microsoft.com/office/officeart/2016/7/layout/RepeatingBendingProcessNew"/>
    <dgm:cxn modelId="{BE54C096-69C1-4920-B40C-8E8C8E079323}" srcId="{41FB88F4-9620-4DC5-8FFA-D41812EBC635}" destId="{553F8253-20F3-4001-97D4-893E9FAB3328}" srcOrd="3" destOrd="0" parTransId="{EE0B99A6-5AF4-40D4-8898-23EA1FAE8841}" sibTransId="{F7D1A7F0-09EC-4C8F-8A91-E933049AB85C}"/>
    <dgm:cxn modelId="{5F37469A-EB41-451C-AEB7-0CB3A10C012A}" type="presOf" srcId="{F6E3F189-64A8-4EE5-881A-37DC860B020B}" destId="{19D92C85-80F6-4331-AB18-9BBEE99134A4}" srcOrd="1" destOrd="0" presId="urn:microsoft.com/office/officeart/2016/7/layout/RepeatingBendingProcessNew"/>
    <dgm:cxn modelId="{2436D5D5-25A2-43A5-874D-B5AA8A19BBB6}" type="presOf" srcId="{557F47E9-E69F-493B-B555-CF17D8B46E0E}" destId="{CB7CD86D-A01F-46C7-9B85-496567C85502}" srcOrd="0" destOrd="5" presId="urn:microsoft.com/office/officeart/2016/7/layout/RepeatingBendingProcessNew"/>
    <dgm:cxn modelId="{B41A5DDA-9834-46E5-8923-F141554BCD32}" type="presOf" srcId="{5D58C7AF-6558-42E5-899B-75EF2ABE26FC}" destId="{0623F67B-565C-4E1B-ACAC-25364FA6346B}" srcOrd="0" destOrd="3" presId="urn:microsoft.com/office/officeart/2016/7/layout/RepeatingBendingProcessNew"/>
    <dgm:cxn modelId="{0665DDE2-82F3-4E6E-8748-29CB69BDF90E}" srcId="{CCF9D9DE-0B9C-4A68-97DC-8370AABCEE62}" destId="{CB79D7B5-A32C-4921-82E9-CE4FA8184EB1}" srcOrd="1" destOrd="0" parTransId="{973A6F01-6C7F-474B-A913-85994B017DF3}" sibTransId="{926B779F-6821-4943-BDC5-C4E602C92E9D}"/>
    <dgm:cxn modelId="{0DD1E5E8-CC11-48AD-8971-C5AE2C78283F}" type="presOf" srcId="{46903D1D-FE75-4A9E-9915-3D0A6B056FF3}" destId="{0623F67B-565C-4E1B-ACAC-25364FA6346B}" srcOrd="0" destOrd="4" presId="urn:microsoft.com/office/officeart/2016/7/layout/RepeatingBendingProcessNew"/>
    <dgm:cxn modelId="{64C223F1-7F19-42B0-B896-BC52C5895264}" type="presOf" srcId="{BC17885B-5978-4A56-BD54-C19975A67AF3}" destId="{CB7CD86D-A01F-46C7-9B85-496567C85502}" srcOrd="0" destOrd="2" presId="urn:microsoft.com/office/officeart/2016/7/layout/RepeatingBendingProcessNew"/>
    <dgm:cxn modelId="{2C650CF3-BA8B-431B-8435-10D29BA4D063}" srcId="{28A8E9A3-6D24-415B-A908-21E670EC2E19}" destId="{CCF9D9DE-0B9C-4A68-97DC-8370AABCEE62}" srcOrd="0" destOrd="0" parTransId="{37F6F3F0-08FA-4F46-AA65-FCBAB3D826EC}" sibTransId="{F6E3F189-64A8-4EE5-881A-37DC860B020B}"/>
    <dgm:cxn modelId="{0C1053FF-A305-4518-9A3E-CA3B644AA4E9}" type="presOf" srcId="{41FB88F4-9620-4DC5-8FFA-D41812EBC635}" destId="{CB7CD86D-A01F-46C7-9B85-496567C85502}" srcOrd="0" destOrd="0" presId="urn:microsoft.com/office/officeart/2016/7/layout/RepeatingBendingProcessNew"/>
    <dgm:cxn modelId="{CB3953A0-4483-40CA-9678-81D62D95E3FF}" type="presParOf" srcId="{A308373C-A778-4E76-B58A-F21E0F47FBF6}" destId="{0623F67B-565C-4E1B-ACAC-25364FA6346B}" srcOrd="0" destOrd="0" presId="urn:microsoft.com/office/officeart/2016/7/layout/RepeatingBendingProcessNew"/>
    <dgm:cxn modelId="{D322B289-87D7-480C-88E6-E2E438ADA592}" type="presParOf" srcId="{A308373C-A778-4E76-B58A-F21E0F47FBF6}" destId="{7B68D9BF-924F-427F-AE2A-3CDDB3A19274}" srcOrd="1" destOrd="0" presId="urn:microsoft.com/office/officeart/2016/7/layout/RepeatingBendingProcessNew"/>
    <dgm:cxn modelId="{A82B9B41-0D13-4512-9A3A-C16A9115FED7}" type="presParOf" srcId="{7B68D9BF-924F-427F-AE2A-3CDDB3A19274}" destId="{19D92C85-80F6-4331-AB18-9BBEE99134A4}" srcOrd="0" destOrd="0" presId="urn:microsoft.com/office/officeart/2016/7/layout/RepeatingBendingProcessNew"/>
    <dgm:cxn modelId="{707DCB1B-2071-4719-B4B9-B0D89B8BBE6F}" type="presParOf" srcId="{A308373C-A778-4E76-B58A-F21E0F47FBF6}" destId="{CB7CD86D-A01F-46C7-9B85-496567C85502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AA311-2E0E-4045-8BE3-9A3721E8B5C5}">
      <dsp:nvSpPr>
        <dsp:cNvPr id="0" name=""/>
        <dsp:cNvSpPr/>
      </dsp:nvSpPr>
      <dsp:spPr>
        <a:xfrm>
          <a:off x="0" y="562688"/>
          <a:ext cx="3419355" cy="2171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CD689-E9EA-4BCF-89F2-8AC32C05CD10}">
      <dsp:nvSpPr>
        <dsp:cNvPr id="0" name=""/>
        <dsp:cNvSpPr/>
      </dsp:nvSpPr>
      <dsp:spPr>
        <a:xfrm>
          <a:off x="379928" y="923620"/>
          <a:ext cx="3419355" cy="2171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project shows how to gather, store, transform, and visualize Stockton weather data using an end-to-end data engineering pipeline. In order to obtain current and 12-month historical weather data, we incorporated the API.</a:t>
          </a:r>
        </a:p>
      </dsp:txBody>
      <dsp:txXfrm>
        <a:off x="443523" y="987215"/>
        <a:ext cx="3292165" cy="2044101"/>
      </dsp:txXfrm>
    </dsp:sp>
    <dsp:sp modelId="{D7A596D8-AC86-4358-B2E7-084F0CF438D5}">
      <dsp:nvSpPr>
        <dsp:cNvPr id="0" name=""/>
        <dsp:cNvSpPr/>
      </dsp:nvSpPr>
      <dsp:spPr>
        <a:xfrm>
          <a:off x="4179212" y="562688"/>
          <a:ext cx="3419355" cy="2171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A1BA5-5D6B-4C7F-A412-AB5435D4E0B4}">
      <dsp:nvSpPr>
        <dsp:cNvPr id="0" name=""/>
        <dsp:cNvSpPr/>
      </dsp:nvSpPr>
      <dsp:spPr>
        <a:xfrm>
          <a:off x="4559141" y="923620"/>
          <a:ext cx="3419355" cy="2171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 daily observations are created by first storing the raw JSON data in MongoDB. After that, ClickHouse is utilized as an analytical warehouse to compile daily temperature and rainfall data.</a:t>
          </a:r>
        </a:p>
      </dsp:txBody>
      <dsp:txXfrm>
        <a:off x="4622736" y="987215"/>
        <a:ext cx="3292165" cy="2044101"/>
      </dsp:txXfrm>
    </dsp:sp>
    <dsp:sp modelId="{30603A6A-5E70-473C-AB89-EAB78CE3BF0C}">
      <dsp:nvSpPr>
        <dsp:cNvPr id="0" name=""/>
        <dsp:cNvSpPr/>
      </dsp:nvSpPr>
      <dsp:spPr>
        <a:xfrm>
          <a:off x="8358425" y="562688"/>
          <a:ext cx="3419355" cy="2171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0A10B-7F88-4010-89DA-8BDAAF3FDE72}">
      <dsp:nvSpPr>
        <dsp:cNvPr id="0" name=""/>
        <dsp:cNvSpPr/>
      </dsp:nvSpPr>
      <dsp:spPr>
        <a:xfrm>
          <a:off x="8738354" y="923620"/>
          <a:ext cx="3419355" cy="2171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increase dashboard speed, the aggregated data is cached in Redis, with TTL and metadata tracking. </a:t>
          </a:r>
        </a:p>
      </dsp:txBody>
      <dsp:txXfrm>
        <a:off x="8801949" y="987215"/>
        <a:ext cx="3292165" cy="20441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9223C-6C8A-4BD9-9A03-DA2B52495518}">
      <dsp:nvSpPr>
        <dsp:cNvPr id="0" name=""/>
        <dsp:cNvSpPr/>
      </dsp:nvSpPr>
      <dsp:spPr>
        <a:xfrm>
          <a:off x="295704" y="922823"/>
          <a:ext cx="921076" cy="921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2C286-8BBD-4363-AD38-C3B236D937D7}">
      <dsp:nvSpPr>
        <dsp:cNvPr id="0" name=""/>
        <dsp:cNvSpPr/>
      </dsp:nvSpPr>
      <dsp:spPr>
        <a:xfrm>
          <a:off x="491999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0E4C8-B36C-498F-80F7-FFB5072FCAA7}">
      <dsp:nvSpPr>
        <dsp:cNvPr id="0" name=""/>
        <dsp:cNvSpPr/>
      </dsp:nvSpPr>
      <dsp:spPr>
        <a:xfrm>
          <a:off x="1262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End-to-end pipeline integration worked successfully</a:t>
          </a:r>
        </a:p>
      </dsp:txBody>
      <dsp:txXfrm>
        <a:off x="1262" y="2130792"/>
        <a:ext cx="1509960" cy="603984"/>
      </dsp:txXfrm>
    </dsp:sp>
    <dsp:sp modelId="{9DBB5944-F38D-49FB-8696-84D6B965042E}">
      <dsp:nvSpPr>
        <dsp:cNvPr id="0" name=""/>
        <dsp:cNvSpPr/>
      </dsp:nvSpPr>
      <dsp:spPr>
        <a:xfrm>
          <a:off x="2069908" y="922823"/>
          <a:ext cx="921076" cy="921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DCC84-3490-4C6E-B99C-A0F3D4FAD455}">
      <dsp:nvSpPr>
        <dsp:cNvPr id="0" name=""/>
        <dsp:cNvSpPr/>
      </dsp:nvSpPr>
      <dsp:spPr>
        <a:xfrm>
          <a:off x="2266203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21C73-F148-4DFE-B3F3-128DD8544928}">
      <dsp:nvSpPr>
        <dsp:cNvPr id="0" name=""/>
        <dsp:cNvSpPr/>
      </dsp:nvSpPr>
      <dsp:spPr>
        <a:xfrm>
          <a:off x="1775466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API → MongoDB ingestion was consistent and stable</a:t>
          </a:r>
        </a:p>
      </dsp:txBody>
      <dsp:txXfrm>
        <a:off x="1775466" y="2130792"/>
        <a:ext cx="1509960" cy="603984"/>
      </dsp:txXfrm>
    </dsp:sp>
    <dsp:sp modelId="{393A7E25-5C60-401F-BC7C-A2992CC7E0B6}">
      <dsp:nvSpPr>
        <dsp:cNvPr id="0" name=""/>
        <dsp:cNvSpPr/>
      </dsp:nvSpPr>
      <dsp:spPr>
        <a:xfrm>
          <a:off x="3844112" y="922823"/>
          <a:ext cx="921076" cy="9210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211F7-AB10-44FE-9A86-557EC729F5F7}">
      <dsp:nvSpPr>
        <dsp:cNvPr id="0" name=""/>
        <dsp:cNvSpPr/>
      </dsp:nvSpPr>
      <dsp:spPr>
        <a:xfrm>
          <a:off x="4040407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02111-5ACD-4A68-B8A0-EB296F71796C}">
      <dsp:nvSpPr>
        <dsp:cNvPr id="0" name=""/>
        <dsp:cNvSpPr/>
      </dsp:nvSpPr>
      <dsp:spPr>
        <a:xfrm>
          <a:off x="3549670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ClickHouse handled large queries with excellent speed</a:t>
          </a:r>
        </a:p>
      </dsp:txBody>
      <dsp:txXfrm>
        <a:off x="3549670" y="2130792"/>
        <a:ext cx="1509960" cy="603984"/>
      </dsp:txXfrm>
    </dsp:sp>
    <dsp:sp modelId="{45BE90A5-7DFF-4129-BD5D-D2706BA6CB9C}">
      <dsp:nvSpPr>
        <dsp:cNvPr id="0" name=""/>
        <dsp:cNvSpPr/>
      </dsp:nvSpPr>
      <dsp:spPr>
        <a:xfrm>
          <a:off x="5618316" y="922823"/>
          <a:ext cx="921076" cy="9210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D5FE8-B2B7-4E1C-8FEE-8C47FD9F3A1C}">
      <dsp:nvSpPr>
        <dsp:cNvPr id="0" name=""/>
        <dsp:cNvSpPr/>
      </dsp:nvSpPr>
      <dsp:spPr>
        <a:xfrm>
          <a:off x="5814611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D10B6-856C-4E7B-A240-4D56E5EF511F}">
      <dsp:nvSpPr>
        <dsp:cNvPr id="0" name=""/>
        <dsp:cNvSpPr/>
      </dsp:nvSpPr>
      <dsp:spPr>
        <a:xfrm>
          <a:off x="5323874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Redis caching significantly improved dashboard performance</a:t>
          </a:r>
        </a:p>
      </dsp:txBody>
      <dsp:txXfrm>
        <a:off x="5323874" y="2130792"/>
        <a:ext cx="1509960" cy="603984"/>
      </dsp:txXfrm>
    </dsp:sp>
    <dsp:sp modelId="{E6A15B89-8066-4710-8A4D-54144D02D925}">
      <dsp:nvSpPr>
        <dsp:cNvPr id="0" name=""/>
        <dsp:cNvSpPr/>
      </dsp:nvSpPr>
      <dsp:spPr>
        <a:xfrm>
          <a:off x="7392521" y="922823"/>
          <a:ext cx="921076" cy="9210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C3D6A-C4C6-4A58-B59E-2DF97A31C4B5}">
      <dsp:nvSpPr>
        <dsp:cNvPr id="0" name=""/>
        <dsp:cNvSpPr/>
      </dsp:nvSpPr>
      <dsp:spPr>
        <a:xfrm>
          <a:off x="7588815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83C11-DD61-4629-9B33-9406313928EE}">
      <dsp:nvSpPr>
        <dsp:cNvPr id="0" name=""/>
        <dsp:cNvSpPr/>
      </dsp:nvSpPr>
      <dsp:spPr>
        <a:xfrm>
          <a:off x="7098078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Dashboard visualizations (Chart.js) were clear and interactive</a:t>
          </a:r>
        </a:p>
      </dsp:txBody>
      <dsp:txXfrm>
        <a:off x="7098078" y="2130792"/>
        <a:ext cx="1509960" cy="603984"/>
      </dsp:txXfrm>
    </dsp:sp>
    <dsp:sp modelId="{31DDB798-E79C-470F-9D4F-841E1463BCC7}">
      <dsp:nvSpPr>
        <dsp:cNvPr id="0" name=""/>
        <dsp:cNvSpPr/>
      </dsp:nvSpPr>
      <dsp:spPr>
        <a:xfrm>
          <a:off x="9166725" y="922823"/>
          <a:ext cx="921076" cy="9210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5FA42-89BC-4E28-96E4-A886FBEBA427}">
      <dsp:nvSpPr>
        <dsp:cNvPr id="0" name=""/>
        <dsp:cNvSpPr/>
      </dsp:nvSpPr>
      <dsp:spPr>
        <a:xfrm>
          <a:off x="9363020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14BCC-D079-4F78-9F2F-FAB3F4B44396}">
      <dsp:nvSpPr>
        <dsp:cNvPr id="0" name=""/>
        <dsp:cNvSpPr/>
      </dsp:nvSpPr>
      <dsp:spPr>
        <a:xfrm>
          <a:off x="8872282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Team collaboration was efficient and well coordinated</a:t>
          </a:r>
        </a:p>
      </dsp:txBody>
      <dsp:txXfrm>
        <a:off x="8872282" y="2130792"/>
        <a:ext cx="1509960" cy="603984"/>
      </dsp:txXfrm>
    </dsp:sp>
    <dsp:sp modelId="{FC966442-A3EF-4154-AE5D-C4EE42095781}">
      <dsp:nvSpPr>
        <dsp:cNvPr id="0" name=""/>
        <dsp:cNvSpPr/>
      </dsp:nvSpPr>
      <dsp:spPr>
        <a:xfrm>
          <a:off x="10940929" y="922823"/>
          <a:ext cx="921076" cy="921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E4E1E-9DBE-455F-B947-F07CE5793034}">
      <dsp:nvSpPr>
        <dsp:cNvPr id="0" name=""/>
        <dsp:cNvSpPr/>
      </dsp:nvSpPr>
      <dsp:spPr>
        <a:xfrm>
          <a:off x="11137224" y="1119118"/>
          <a:ext cx="528486" cy="52848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94635-F717-4CA6-B48F-890306E28C23}">
      <dsp:nvSpPr>
        <dsp:cNvPr id="0" name=""/>
        <dsp:cNvSpPr/>
      </dsp:nvSpPr>
      <dsp:spPr>
        <a:xfrm>
          <a:off x="10646486" y="2130792"/>
          <a:ext cx="1509960" cy="60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Metadata tracking improved transparency across the pipeline</a:t>
          </a:r>
        </a:p>
      </dsp:txBody>
      <dsp:txXfrm>
        <a:off x="10646486" y="2130792"/>
        <a:ext cx="1509960" cy="6039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ADE56-FDBB-4ABC-9DFE-DBCF7EB903B5}">
      <dsp:nvSpPr>
        <dsp:cNvPr id="0" name=""/>
        <dsp:cNvSpPr/>
      </dsp:nvSpPr>
      <dsp:spPr>
        <a:xfrm>
          <a:off x="0" y="559668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ClickHouse authentication errors (default user + read-only mode)</a:t>
          </a:r>
        </a:p>
      </dsp:txBody>
      <dsp:txXfrm>
        <a:off x="25759" y="585427"/>
        <a:ext cx="7802721" cy="476152"/>
      </dsp:txXfrm>
    </dsp:sp>
    <dsp:sp modelId="{1522FB35-A785-4345-BB5D-6A833F0D35CD}">
      <dsp:nvSpPr>
        <dsp:cNvPr id="0" name=""/>
        <dsp:cNvSpPr/>
      </dsp:nvSpPr>
      <dsp:spPr>
        <a:xfrm>
          <a:off x="0" y="1150698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286420"/>
                <a:satOff val="157"/>
                <a:lumOff val="756"/>
                <a:alphaOff val="0"/>
                <a:tint val="98000"/>
                <a:lumMod val="100000"/>
              </a:schemeClr>
            </a:gs>
            <a:gs pos="100000">
              <a:schemeClr val="accent5">
                <a:hueOff val="-286420"/>
                <a:satOff val="157"/>
                <a:lumOff val="756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Docker port conflicts (8123, 9000, 6379)</a:t>
          </a:r>
        </a:p>
      </dsp:txBody>
      <dsp:txXfrm>
        <a:off x="25759" y="1176457"/>
        <a:ext cx="7802721" cy="476152"/>
      </dsp:txXfrm>
    </dsp:sp>
    <dsp:sp modelId="{1F401A4B-9D1A-42AE-920F-9DEA8CEBBF09}">
      <dsp:nvSpPr>
        <dsp:cNvPr id="0" name=""/>
        <dsp:cNvSpPr/>
      </dsp:nvSpPr>
      <dsp:spPr>
        <a:xfrm>
          <a:off x="0" y="1741728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572839"/>
                <a:satOff val="315"/>
                <a:lumOff val="1513"/>
                <a:alphaOff val="0"/>
                <a:tint val="98000"/>
                <a:lumMod val="100000"/>
              </a:schemeClr>
            </a:gs>
            <a:gs pos="100000">
              <a:schemeClr val="accent5">
                <a:hueOff val="-572839"/>
                <a:satOff val="315"/>
                <a:lumOff val="1513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MongoDB CLI issues (mongosh missing on Windows)</a:t>
          </a:r>
        </a:p>
      </dsp:txBody>
      <dsp:txXfrm>
        <a:off x="25759" y="1767487"/>
        <a:ext cx="7802721" cy="476152"/>
      </dsp:txXfrm>
    </dsp:sp>
    <dsp:sp modelId="{ADECC44A-5393-4085-BB7C-30C9663272FA}">
      <dsp:nvSpPr>
        <dsp:cNvPr id="0" name=""/>
        <dsp:cNvSpPr/>
      </dsp:nvSpPr>
      <dsp:spPr>
        <a:xfrm>
          <a:off x="0" y="2332759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859259"/>
                <a:satOff val="472"/>
                <a:lumOff val="2269"/>
                <a:alphaOff val="0"/>
                <a:tint val="98000"/>
                <a:lumMod val="100000"/>
              </a:schemeClr>
            </a:gs>
            <a:gs pos="100000">
              <a:schemeClr val="accent5">
                <a:hueOff val="-859259"/>
                <a:satOff val="472"/>
                <a:lumOff val="2269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API returning 404 for certain date ranges</a:t>
          </a:r>
        </a:p>
      </dsp:txBody>
      <dsp:txXfrm>
        <a:off x="25759" y="2358518"/>
        <a:ext cx="7802721" cy="476152"/>
      </dsp:txXfrm>
    </dsp:sp>
    <dsp:sp modelId="{20696951-6330-403C-A0AB-8A9CCB75D781}">
      <dsp:nvSpPr>
        <dsp:cNvPr id="0" name=""/>
        <dsp:cNvSpPr/>
      </dsp:nvSpPr>
      <dsp:spPr>
        <a:xfrm>
          <a:off x="0" y="2923789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1145678"/>
                <a:satOff val="630"/>
                <a:lumOff val="3025"/>
                <a:alphaOff val="0"/>
                <a:tint val="98000"/>
                <a:lumMod val="100000"/>
              </a:schemeClr>
            </a:gs>
            <a:gs pos="100000">
              <a:schemeClr val="accent5">
                <a:hueOff val="-1145678"/>
                <a:satOff val="630"/>
                <a:lumOff val="302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Inconsistent weather fields requiring transformation</a:t>
          </a:r>
        </a:p>
      </dsp:txBody>
      <dsp:txXfrm>
        <a:off x="25759" y="2949548"/>
        <a:ext cx="7802721" cy="476152"/>
      </dsp:txXfrm>
    </dsp:sp>
    <dsp:sp modelId="{FB307F8A-8E69-4D79-BD89-1E4046E0750E}">
      <dsp:nvSpPr>
        <dsp:cNvPr id="0" name=""/>
        <dsp:cNvSpPr/>
      </dsp:nvSpPr>
      <dsp:spPr>
        <a:xfrm>
          <a:off x="0" y="3514819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1432098"/>
                <a:satOff val="787"/>
                <a:lumOff val="3781"/>
                <a:alphaOff val="0"/>
                <a:tint val="98000"/>
                <a:lumMod val="100000"/>
              </a:schemeClr>
            </a:gs>
            <a:gs pos="100000">
              <a:schemeClr val="accent5">
                <a:hueOff val="-1432098"/>
                <a:satOff val="787"/>
                <a:lumOff val="3781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Redis TTL expiration causing cache misses</a:t>
          </a:r>
        </a:p>
      </dsp:txBody>
      <dsp:txXfrm>
        <a:off x="25759" y="3540578"/>
        <a:ext cx="7802721" cy="476152"/>
      </dsp:txXfrm>
    </dsp:sp>
    <dsp:sp modelId="{3D5C6322-B74D-4A2D-8197-35A2D9230852}">
      <dsp:nvSpPr>
        <dsp:cNvPr id="0" name=""/>
        <dsp:cNvSpPr/>
      </dsp:nvSpPr>
      <dsp:spPr>
        <a:xfrm>
          <a:off x="0" y="4105849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1718518"/>
                <a:satOff val="945"/>
                <a:lumOff val="4538"/>
                <a:alphaOff val="0"/>
                <a:tint val="98000"/>
                <a:lumMod val="100000"/>
              </a:schemeClr>
            </a:gs>
            <a:gs pos="100000">
              <a:schemeClr val="accent5">
                <a:hueOff val="-1718518"/>
                <a:satOff val="945"/>
                <a:lumOff val="4538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Sync timing issues between MongoDB → ClickHouse → Redis</a:t>
          </a:r>
        </a:p>
      </dsp:txBody>
      <dsp:txXfrm>
        <a:off x="25759" y="4131608"/>
        <a:ext cx="7802721" cy="476152"/>
      </dsp:txXfrm>
    </dsp:sp>
    <dsp:sp modelId="{AC37D164-2F2E-4755-A44A-16ABB8A8D5D0}">
      <dsp:nvSpPr>
        <dsp:cNvPr id="0" name=""/>
        <dsp:cNvSpPr/>
      </dsp:nvSpPr>
      <dsp:spPr>
        <a:xfrm>
          <a:off x="0" y="4696879"/>
          <a:ext cx="7854239" cy="527670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.env variables failing to load across scripts</a:t>
          </a:r>
        </a:p>
      </dsp:txBody>
      <dsp:txXfrm>
        <a:off x="25759" y="4722638"/>
        <a:ext cx="7802721" cy="4761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6AFD6-2AA9-4902-94DB-8C90128428E3}">
      <dsp:nvSpPr>
        <dsp:cNvPr id="0" name=""/>
        <dsp:cNvSpPr/>
      </dsp:nvSpPr>
      <dsp:spPr>
        <a:xfrm>
          <a:off x="35469" y="1730"/>
          <a:ext cx="2810876" cy="16865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learned how important it is to structure a multi-layer data pipeline correctly.</a:t>
          </a:r>
        </a:p>
      </dsp:txBody>
      <dsp:txXfrm>
        <a:off x="35469" y="1730"/>
        <a:ext cx="2810876" cy="1686526"/>
      </dsp:txXfrm>
    </dsp:sp>
    <dsp:sp modelId="{535651AC-8B87-4294-887E-1C067E651A29}">
      <dsp:nvSpPr>
        <dsp:cNvPr id="0" name=""/>
        <dsp:cNvSpPr/>
      </dsp:nvSpPr>
      <dsp:spPr>
        <a:xfrm>
          <a:off x="3127434" y="1730"/>
          <a:ext cx="2810876" cy="16865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saw that API data often requires cleaning before moving into MongoDB, and that ClickHouse needs very specific formatting and authentication.</a:t>
          </a:r>
        </a:p>
      </dsp:txBody>
      <dsp:txXfrm>
        <a:off x="3127434" y="1730"/>
        <a:ext cx="2810876" cy="1686526"/>
      </dsp:txXfrm>
    </dsp:sp>
    <dsp:sp modelId="{B6D4600C-8E0D-43AE-B6B7-974ED4EB66DE}">
      <dsp:nvSpPr>
        <dsp:cNvPr id="0" name=""/>
        <dsp:cNvSpPr/>
      </dsp:nvSpPr>
      <dsp:spPr>
        <a:xfrm>
          <a:off x="6219398" y="1730"/>
          <a:ext cx="2810876" cy="168652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Redis taught us the importance of caching, but also the need to tune TTL settings so the dashboard remains fresh but fast.</a:t>
          </a:r>
        </a:p>
      </dsp:txBody>
      <dsp:txXfrm>
        <a:off x="6219398" y="1730"/>
        <a:ext cx="2810876" cy="1686526"/>
      </dsp:txXfrm>
    </dsp:sp>
    <dsp:sp modelId="{7B91F74C-B258-4B42-B090-69D2DC0EF28B}">
      <dsp:nvSpPr>
        <dsp:cNvPr id="0" name=""/>
        <dsp:cNvSpPr/>
      </dsp:nvSpPr>
      <dsp:spPr>
        <a:xfrm>
          <a:off x="9311363" y="1730"/>
          <a:ext cx="2810876" cy="16865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Metadata tracking became a key part of our debugging workflow, letting us easily see where failures happened.</a:t>
          </a:r>
        </a:p>
      </dsp:txBody>
      <dsp:txXfrm>
        <a:off x="9311363" y="1730"/>
        <a:ext cx="2810876" cy="1686526"/>
      </dsp:txXfrm>
    </dsp:sp>
    <dsp:sp modelId="{82056223-5C3B-49DE-B2F6-FE75A55EA1AA}">
      <dsp:nvSpPr>
        <dsp:cNvPr id="0" name=""/>
        <dsp:cNvSpPr/>
      </dsp:nvSpPr>
      <dsp:spPr>
        <a:xfrm>
          <a:off x="4673416" y="1969343"/>
          <a:ext cx="2810876" cy="168652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Finally, we learned the value of clear team roles — dividing responsibilities helped us complete the project efficiently.</a:t>
          </a:r>
        </a:p>
      </dsp:txBody>
      <dsp:txXfrm>
        <a:off x="4673416" y="1969343"/>
        <a:ext cx="2810876" cy="16865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8D9BF-924F-427F-AE2A-3CDDB3A19274}">
      <dsp:nvSpPr>
        <dsp:cNvPr id="0" name=""/>
        <dsp:cNvSpPr/>
      </dsp:nvSpPr>
      <dsp:spPr>
        <a:xfrm>
          <a:off x="5450351" y="1783079"/>
          <a:ext cx="12228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222807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30419" y="1822532"/>
        <a:ext cx="62670" cy="12534"/>
      </dsp:txXfrm>
    </dsp:sp>
    <dsp:sp modelId="{0623F67B-565C-4E1B-ACAC-25364FA6346B}">
      <dsp:nvSpPr>
        <dsp:cNvPr id="0" name=""/>
        <dsp:cNvSpPr/>
      </dsp:nvSpPr>
      <dsp:spPr>
        <a:xfrm>
          <a:off x="2552" y="193920"/>
          <a:ext cx="5449598" cy="326975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035" tIns="280300" rIns="267035" bIns="2803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Conclusion: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Successfully built an end-to-end weather data pipeline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Automated data ingestion, transformation, warehousing, caching, and visualization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Implemented metadata tracking and sync strategies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Dashboard provides fast, clear insights using real data</a:t>
          </a:r>
          <a:endParaRPr lang="en-US" sz="1800" kern="1200"/>
        </a:p>
      </dsp:txBody>
      <dsp:txXfrm>
        <a:off x="2552" y="193920"/>
        <a:ext cx="5449598" cy="3269759"/>
      </dsp:txXfrm>
    </dsp:sp>
    <dsp:sp modelId="{CB7CD86D-A01F-46C7-9B85-496567C85502}">
      <dsp:nvSpPr>
        <dsp:cNvPr id="0" name=""/>
        <dsp:cNvSpPr/>
      </dsp:nvSpPr>
      <dsp:spPr>
        <a:xfrm>
          <a:off x="6705558" y="193920"/>
          <a:ext cx="5449598" cy="326975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035" tIns="280300" rIns="267035" bIns="2803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Future Work: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Automate the ETL pipeline with Airflow/Prefect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Add incremental sync instead of full refresh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Deploy dashboard to cloud (AWS/GCP)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Add more weather attributes (humidity, wind, air quality)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Enhance dashboard with interactive charts and alerts</a:t>
          </a:r>
          <a:endParaRPr lang="en-US" sz="1800" kern="1200"/>
        </a:p>
      </dsp:txBody>
      <dsp:txXfrm>
        <a:off x="6705558" y="193920"/>
        <a:ext cx="5449598" cy="32697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9D6E4-D281-40CC-9838-24A0A72A162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FAF3A-9C68-4483-AAE7-19FFA53A6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1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FAF3A-9C68-4483-AAE7-19FFA53A63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777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FAF3A-9C68-4483-AAE7-19FFA53A63A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73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79" y="2357120"/>
            <a:ext cx="8637271" cy="2905757"/>
          </a:xfrm>
        </p:spPr>
        <p:txBody>
          <a:bodyPr anchor="b">
            <a:normAutofit/>
          </a:bodyPr>
          <a:lstStyle>
            <a:lvl1pPr algn="r">
              <a:defRPr sz="576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4879" y="5262879"/>
            <a:ext cx="8637271" cy="1686560"/>
          </a:xfrm>
        </p:spPr>
        <p:txBody>
          <a:bodyPr anchor="t">
            <a:normAutofit/>
          </a:bodyPr>
          <a:lstStyle>
            <a:lvl1pPr marL="0" indent="0" algn="r">
              <a:buNone/>
              <a:defRPr sz="2160" cap="all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19070" y="7044691"/>
            <a:ext cx="1920240" cy="45339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4879" y="7044691"/>
            <a:ext cx="5872750" cy="45339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730750" y="7044691"/>
            <a:ext cx="661400" cy="45339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20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40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3970297"/>
            <a:ext cx="12157712" cy="1762560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2857"/>
            <a:ext cx="12157714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cap="all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0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2" y="2570480"/>
            <a:ext cx="5994401" cy="43789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6274" y="2570481"/>
            <a:ext cx="5994398" cy="43789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31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8404" y="2661921"/>
            <a:ext cx="56508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2" y="3444241"/>
            <a:ext cx="5996308" cy="35051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4" y="2672081"/>
            <a:ext cx="566737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88180" y="3444241"/>
            <a:ext cx="5994401" cy="35051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51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7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2489200"/>
            <a:ext cx="4417062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841" y="731521"/>
            <a:ext cx="7402831" cy="621792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4135120"/>
            <a:ext cx="4417062" cy="219456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015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7397584" cy="164592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43504" y="1097280"/>
            <a:ext cx="3937169" cy="54864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566160"/>
            <a:ext cx="7397584" cy="219456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08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5679438"/>
            <a:ext cx="12157712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5921" y="1118535"/>
            <a:ext cx="10511792" cy="379797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6359524"/>
            <a:ext cx="12157712" cy="592454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4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749039"/>
          </a:xfrm>
        </p:spPr>
        <p:txBody>
          <a:bodyPr anchor="ctr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1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17450" y="4023360"/>
            <a:ext cx="11207021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959" y="5212080"/>
            <a:ext cx="12182840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66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3" y="3970297"/>
            <a:ext cx="12157710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1" y="5732857"/>
            <a:ext cx="12157711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63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0" y="4663440"/>
            <a:ext cx="12162523" cy="1066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0240"/>
            <a:ext cx="12162523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41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2918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1" y="4206240"/>
            <a:ext cx="12157714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188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26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0410" y="731520"/>
            <a:ext cx="2590262" cy="62179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731520"/>
            <a:ext cx="9398539" cy="621792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38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2" y="2570481"/>
            <a:ext cx="12157710" cy="437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07592" y="7044691"/>
            <a:ext cx="192024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1" y="7044691"/>
            <a:ext cx="9393191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19273" y="7044691"/>
            <a:ext cx="66140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357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2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png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 defTabSz="457200">
              <a:lnSpc>
                <a:spcPct val="90000"/>
              </a:lnSpc>
            </a:pPr>
            <a:r>
              <a:rPr lang="en-US" sz="2500" spc="-8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500" spc="-10" dirty="0">
                <a:latin typeface="Arial" panose="020B0604020202020204" pitchFamily="34" charset="0"/>
                <a:cs typeface="Arial" panose="020B0604020202020204" pitchFamily="34" charset="0"/>
              </a:rPr>
              <a:t>Final Presentation</a:t>
            </a:r>
            <a:br>
              <a:rPr lang="en-US" sz="2500" spc="-1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500" spc="-10" dirty="0">
                <a:latin typeface="Arial" panose="020B0604020202020204" pitchFamily="34" charset="0"/>
                <a:cs typeface="Arial" panose="020B0604020202020204" pitchFamily="34" charset="0"/>
              </a:rPr>
              <a:t>       Team name: </a:t>
            </a:r>
            <a:r>
              <a:rPr lang="en-US" sz="2500" spc="-10" dirty="0" err="1">
                <a:latin typeface="Arial" panose="020B0604020202020204" pitchFamily="34" charset="0"/>
                <a:cs typeface="Arial" panose="020B0604020202020204" pitchFamily="34" charset="0"/>
              </a:rPr>
              <a:t>Team_self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5944" y="3124200"/>
            <a:ext cx="7676776" cy="4099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cap="all" spc="-25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COMP-</a:t>
            </a:r>
            <a:r>
              <a:rPr lang="en-US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263</a:t>
            </a:r>
            <a:r>
              <a:rPr lang="en-US" cap="all" spc="-15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cap="all" spc="-1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</a:t>
            </a:r>
            <a:r>
              <a:rPr lang="en-US" cap="all" spc="-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en-US" cap="all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5715000"/>
            <a:ext cx="5333999" cy="414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0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by:</a:t>
            </a:r>
            <a:r>
              <a:rPr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urgabai Dandothkar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590" cy="2741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2741056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810" y="0"/>
            <a:ext cx="14626590" cy="274105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440" y="783770"/>
            <a:ext cx="1215771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0345" algn="ctr" defTabSz="457200"/>
            <a:r>
              <a:rPr lang="en-US" sz="5300">
                <a:solidFill>
                  <a:srgbClr val="FFFFFF"/>
                </a:solidFill>
              </a:rPr>
              <a:t>Project</a:t>
            </a:r>
            <a:r>
              <a:rPr lang="en-US" sz="5300" spc="-145">
                <a:solidFill>
                  <a:srgbClr val="FFFFFF"/>
                </a:solidFill>
              </a:rPr>
              <a:t> </a:t>
            </a:r>
            <a:r>
              <a:rPr lang="en-US" sz="5300" spc="-10">
                <a:solidFill>
                  <a:srgbClr val="FFFFFF"/>
                </a:solidFill>
              </a:rPr>
              <a:t>Overview</a:t>
            </a:r>
            <a:endParaRPr lang="en-US" sz="5300">
              <a:solidFill>
                <a:srgbClr val="FFFFFF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8DBD3F-EB62-3187-ABD7-A222E5CE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" y="-2437505"/>
            <a:ext cx="14935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shows how to gather, store, transform, and visualize Stockton weather data using an end-to-end data engineering pipeline. In order to obtain current and 12-month historical weather data, we incorporated the API. 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daily observations are created by first storing the raw JSON data in MongoDB. After that,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ClickHouse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utilized as an analytical warehouse to compile daily temperature and rainfall data. To increase dashboard speed, the aggregated data is cached in Redis, with TTL and metadata tracking.</a:t>
            </a:r>
          </a:p>
        </p:txBody>
      </p:sp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59E376D0-CAE6-C450-C086-3432878C1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657047"/>
              </p:ext>
            </p:extLst>
          </p:nvPr>
        </p:nvGraphicFramePr>
        <p:xfrm>
          <a:off x="1234440" y="3291840"/>
          <a:ext cx="1215771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077916" y="4309893"/>
            <a:ext cx="6796195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00018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1090" y="1136609"/>
            <a:ext cx="8288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5825" algn="l"/>
              </a:tabLst>
            </a:pPr>
            <a:r>
              <a:rPr sz="4400" spc="-10" dirty="0"/>
              <a:t>Pipeline</a:t>
            </a:r>
            <a:r>
              <a:rPr sz="4400" dirty="0"/>
              <a:t>	</a:t>
            </a:r>
            <a:r>
              <a:rPr sz="4400" spc="-10" dirty="0"/>
              <a:t>Breakdown</a:t>
            </a:r>
            <a:endParaRPr sz="4400" dirty="0"/>
          </a:p>
        </p:txBody>
      </p:sp>
      <p:grpSp>
        <p:nvGrpSpPr>
          <p:cNvPr id="5" name="object 5"/>
          <p:cNvGrpSpPr/>
          <p:nvPr/>
        </p:nvGrpSpPr>
        <p:grpSpPr>
          <a:xfrm>
            <a:off x="793750" y="4666016"/>
            <a:ext cx="13042900" cy="907415"/>
            <a:chOff x="793790" y="4367093"/>
            <a:chExt cx="13042900" cy="907415"/>
          </a:xfrm>
        </p:grpSpPr>
        <p:sp>
          <p:nvSpPr>
            <p:cNvPr id="6" name="object 6"/>
            <p:cNvSpPr/>
            <p:nvPr/>
          </p:nvSpPr>
          <p:spPr>
            <a:xfrm>
              <a:off x="793788" y="4367098"/>
              <a:ext cx="13042900" cy="484505"/>
            </a:xfrm>
            <a:custGeom>
              <a:avLst/>
              <a:gdLst/>
              <a:ahLst/>
              <a:cxnLst/>
              <a:rect l="l" t="t" r="r" b="b"/>
              <a:pathLst>
                <a:path w="13042900" h="484504">
                  <a:moveTo>
                    <a:pt x="13042824" y="460451"/>
                  </a:moveTo>
                  <a:lnTo>
                    <a:pt x="13036004" y="453631"/>
                  </a:lnTo>
                  <a:lnTo>
                    <a:pt x="2087714" y="453631"/>
                  </a:lnTo>
                  <a:lnTo>
                    <a:pt x="2094547" y="446811"/>
                  </a:lnTo>
                  <a:lnTo>
                    <a:pt x="2094547" y="6819"/>
                  </a:lnTo>
                  <a:lnTo>
                    <a:pt x="2087714" y="0"/>
                  </a:lnTo>
                  <a:lnTo>
                    <a:pt x="2070887" y="0"/>
                  </a:lnTo>
                  <a:lnTo>
                    <a:pt x="2064067" y="6819"/>
                  </a:lnTo>
                  <a:lnTo>
                    <a:pt x="2064067" y="446811"/>
                  </a:lnTo>
                  <a:lnTo>
                    <a:pt x="2070887" y="453631"/>
                  </a:lnTo>
                  <a:lnTo>
                    <a:pt x="6819" y="453631"/>
                  </a:lnTo>
                  <a:lnTo>
                    <a:pt x="0" y="460451"/>
                  </a:lnTo>
                  <a:lnTo>
                    <a:pt x="0" y="477291"/>
                  </a:lnTo>
                  <a:lnTo>
                    <a:pt x="6819" y="484111"/>
                  </a:lnTo>
                  <a:lnTo>
                    <a:pt x="13036004" y="484111"/>
                  </a:lnTo>
                  <a:lnTo>
                    <a:pt x="13042824" y="477291"/>
                  </a:lnTo>
                  <a:lnTo>
                    <a:pt x="13042824" y="460451"/>
                  </a:lnTo>
                  <a:close/>
                </a:path>
              </a:pathLst>
            </a:custGeom>
            <a:solidFill>
              <a:srgbClr val="313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8086" y="4735710"/>
              <a:ext cx="170021" cy="17002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78849" y="4820721"/>
              <a:ext cx="30480" cy="454025"/>
            </a:xfrm>
            <a:custGeom>
              <a:avLst/>
              <a:gdLst/>
              <a:ahLst/>
              <a:cxnLst/>
              <a:rect l="l" t="t" r="r" b="b"/>
              <a:pathLst>
                <a:path w="30479" h="454025">
                  <a:moveTo>
                    <a:pt x="23656" y="0"/>
                  </a:moveTo>
                  <a:lnTo>
                    <a:pt x="6822" y="0"/>
                  </a:lnTo>
                  <a:lnTo>
                    <a:pt x="0" y="6823"/>
                  </a:lnTo>
                  <a:lnTo>
                    <a:pt x="0" y="446805"/>
                  </a:lnTo>
                  <a:lnTo>
                    <a:pt x="6822" y="453628"/>
                  </a:lnTo>
                  <a:lnTo>
                    <a:pt x="23656" y="453628"/>
                  </a:lnTo>
                  <a:lnTo>
                    <a:pt x="30479" y="446805"/>
                  </a:lnTo>
                  <a:lnTo>
                    <a:pt x="30479" y="6823"/>
                  </a:lnTo>
                  <a:lnTo>
                    <a:pt x="23656" y="0"/>
                  </a:lnTo>
                  <a:close/>
                </a:path>
              </a:pathLst>
            </a:custGeom>
            <a:solidFill>
              <a:srgbClr val="313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9078" y="4735710"/>
              <a:ext cx="170021" cy="1700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99960" y="4367093"/>
              <a:ext cx="30480" cy="454025"/>
            </a:xfrm>
            <a:custGeom>
              <a:avLst/>
              <a:gdLst/>
              <a:ahLst/>
              <a:cxnLst/>
              <a:rect l="l" t="t" r="r" b="b"/>
              <a:pathLst>
                <a:path w="30479" h="454025">
                  <a:moveTo>
                    <a:pt x="23656" y="0"/>
                  </a:moveTo>
                  <a:lnTo>
                    <a:pt x="6822" y="0"/>
                  </a:lnTo>
                  <a:lnTo>
                    <a:pt x="0" y="6823"/>
                  </a:lnTo>
                  <a:lnTo>
                    <a:pt x="0" y="446805"/>
                  </a:lnTo>
                  <a:lnTo>
                    <a:pt x="6822" y="453627"/>
                  </a:lnTo>
                  <a:lnTo>
                    <a:pt x="23656" y="453627"/>
                  </a:lnTo>
                  <a:lnTo>
                    <a:pt x="30480" y="446805"/>
                  </a:lnTo>
                  <a:lnTo>
                    <a:pt x="30480" y="6823"/>
                  </a:lnTo>
                  <a:lnTo>
                    <a:pt x="23656" y="0"/>
                  </a:lnTo>
                  <a:close/>
                </a:path>
              </a:pathLst>
            </a:custGeom>
            <a:solidFill>
              <a:srgbClr val="313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30188" y="4735710"/>
              <a:ext cx="170021" cy="1700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20952" y="4820721"/>
              <a:ext cx="30480" cy="454025"/>
            </a:xfrm>
            <a:custGeom>
              <a:avLst/>
              <a:gdLst/>
              <a:ahLst/>
              <a:cxnLst/>
              <a:rect l="l" t="t" r="r" b="b"/>
              <a:pathLst>
                <a:path w="30479" h="454025">
                  <a:moveTo>
                    <a:pt x="23656" y="0"/>
                  </a:moveTo>
                  <a:lnTo>
                    <a:pt x="6822" y="0"/>
                  </a:lnTo>
                  <a:lnTo>
                    <a:pt x="0" y="6823"/>
                  </a:lnTo>
                  <a:lnTo>
                    <a:pt x="0" y="446805"/>
                  </a:lnTo>
                  <a:lnTo>
                    <a:pt x="6822" y="453628"/>
                  </a:lnTo>
                  <a:lnTo>
                    <a:pt x="23656" y="453628"/>
                  </a:lnTo>
                  <a:lnTo>
                    <a:pt x="30480" y="446805"/>
                  </a:lnTo>
                  <a:lnTo>
                    <a:pt x="30480" y="6823"/>
                  </a:lnTo>
                  <a:lnTo>
                    <a:pt x="23656" y="0"/>
                  </a:lnTo>
                  <a:close/>
                </a:path>
              </a:pathLst>
            </a:custGeom>
            <a:solidFill>
              <a:srgbClr val="313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51180" y="4735710"/>
              <a:ext cx="170021" cy="1700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742062" y="4367093"/>
              <a:ext cx="30480" cy="454025"/>
            </a:xfrm>
            <a:custGeom>
              <a:avLst/>
              <a:gdLst/>
              <a:ahLst/>
              <a:cxnLst/>
              <a:rect l="l" t="t" r="r" b="b"/>
              <a:pathLst>
                <a:path w="30479" h="454025">
                  <a:moveTo>
                    <a:pt x="23656" y="0"/>
                  </a:moveTo>
                  <a:lnTo>
                    <a:pt x="6823" y="0"/>
                  </a:lnTo>
                  <a:lnTo>
                    <a:pt x="0" y="6823"/>
                  </a:lnTo>
                  <a:lnTo>
                    <a:pt x="0" y="446805"/>
                  </a:lnTo>
                  <a:lnTo>
                    <a:pt x="6823" y="453627"/>
                  </a:lnTo>
                  <a:lnTo>
                    <a:pt x="23656" y="453627"/>
                  </a:lnTo>
                  <a:lnTo>
                    <a:pt x="30479" y="446805"/>
                  </a:lnTo>
                  <a:lnTo>
                    <a:pt x="30479" y="6823"/>
                  </a:lnTo>
                  <a:lnTo>
                    <a:pt x="23656" y="0"/>
                  </a:lnTo>
                  <a:close/>
                </a:path>
              </a:pathLst>
            </a:custGeom>
            <a:solidFill>
              <a:srgbClr val="313E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72291" y="4735710"/>
              <a:ext cx="170021" cy="17002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90450" y="2648028"/>
            <a:ext cx="3529654" cy="993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7300"/>
              </a:lnSpc>
              <a:spcBef>
                <a:spcPts val="100"/>
              </a:spcBef>
            </a:pPr>
            <a:r>
              <a:rPr lang="en-US" sz="1600" dirty="0"/>
              <a:t>Weather data is retrieved from the Open-</a:t>
            </a:r>
            <a:r>
              <a:rPr lang="en-US" sz="1600" dirty="0" err="1"/>
              <a:t>Meteo</a:t>
            </a:r>
            <a:r>
              <a:rPr lang="en-US" sz="1600" dirty="0"/>
              <a:t> and NWS APIs. Both real-time and historical (12 months) data are collected. 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60114" y="5483383"/>
            <a:ext cx="126809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CFD0D8"/>
                </a:solidFill>
                <a:latin typeface="Arial MT"/>
                <a:cs typeface="Arial MT"/>
              </a:rPr>
              <a:t>MongoDB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05199" y="5950941"/>
            <a:ext cx="3317845" cy="1999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7300"/>
              </a:lnSpc>
              <a:spcBef>
                <a:spcPts val="100"/>
              </a:spcBef>
            </a:pPr>
            <a:r>
              <a:rPr lang="en-US" sz="1600" dirty="0"/>
              <a:t>Raw API responses are stored in the </a:t>
            </a:r>
            <a:r>
              <a:rPr lang="en-US" sz="1600" i="1" dirty="0" err="1"/>
              <a:t>raw_observations</a:t>
            </a:r>
            <a:r>
              <a:rPr lang="en-US" sz="1600" dirty="0"/>
              <a:t> collection.</a:t>
            </a:r>
            <a:br>
              <a:rPr lang="en-US" sz="1600" dirty="0"/>
            </a:br>
            <a:r>
              <a:rPr lang="en-US" sz="1600" dirty="0"/>
              <a:t>Cleaned and structured daily observations—containing rainfall, max/min temperature, and dates—are stored in </a:t>
            </a:r>
            <a:r>
              <a:rPr lang="en-US" sz="1600" i="1" dirty="0" err="1"/>
              <a:t>enriched_observations</a:t>
            </a:r>
            <a:r>
              <a:rPr lang="en-US" sz="1600" dirty="0"/>
              <a:t>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5166" y="2180470"/>
            <a:ext cx="53994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73195" algn="l"/>
              </a:tabLst>
            </a:pPr>
            <a:r>
              <a:rPr sz="2200" spc="-25" dirty="0">
                <a:solidFill>
                  <a:srgbClr val="CFD0D8"/>
                </a:solidFill>
                <a:latin typeface="Arial MT"/>
                <a:cs typeface="Arial MT"/>
              </a:rPr>
              <a:t>API</a:t>
            </a:r>
            <a:r>
              <a:rPr sz="2200" dirty="0">
                <a:solidFill>
                  <a:srgbClr val="CFD0D8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CFD0D8"/>
                </a:solidFill>
                <a:latin typeface="Arial MT"/>
                <a:cs typeface="Arial MT"/>
              </a:rPr>
              <a:t>ClickHouse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7577" y="2648028"/>
            <a:ext cx="4600457" cy="166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37300"/>
              </a:lnSpc>
              <a:spcBef>
                <a:spcPts val="100"/>
              </a:spcBef>
            </a:pPr>
            <a:r>
              <a:rPr lang="en-US" sz="1600" dirty="0"/>
              <a:t>MongoDB’s enriched dataset is transformed into an analytical </a:t>
            </a:r>
            <a:r>
              <a:rPr lang="en-US" sz="1600" dirty="0" err="1"/>
              <a:t>table.The</a:t>
            </a:r>
            <a:r>
              <a:rPr lang="en-US" sz="1600" dirty="0"/>
              <a:t> system performs a </a:t>
            </a:r>
            <a:r>
              <a:rPr lang="en-US" sz="1600" b="1" dirty="0"/>
              <a:t>full sync</a:t>
            </a:r>
            <a:r>
              <a:rPr lang="en-US" sz="1600" dirty="0"/>
              <a:t>, recreating the </a:t>
            </a:r>
            <a:r>
              <a:rPr lang="en-US" sz="1600" dirty="0" err="1"/>
              <a:t>daily_weather</a:t>
            </a:r>
            <a:r>
              <a:rPr lang="en-US" sz="1600" dirty="0"/>
              <a:t> table and loading all cleaned </a:t>
            </a:r>
            <a:r>
              <a:rPr lang="en-US" sz="1600" dirty="0" err="1"/>
              <a:t>rows.ClickHouse</a:t>
            </a:r>
            <a:r>
              <a:rPr lang="en-US" sz="1600" dirty="0"/>
              <a:t> enables fast SQL queries for dashboard analytics.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66270" y="5483383"/>
            <a:ext cx="7404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CFD0D8"/>
                </a:solidFill>
                <a:latin typeface="Arial MT"/>
                <a:cs typeface="Arial MT"/>
              </a:rPr>
              <a:t>Redis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31316" y="5950941"/>
            <a:ext cx="4594084" cy="166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 marR="5080" indent="-60325" algn="l">
              <a:lnSpc>
                <a:spcPct val="137300"/>
              </a:lnSpc>
              <a:spcBef>
                <a:spcPts val="100"/>
              </a:spcBef>
            </a:pPr>
            <a:r>
              <a:rPr lang="en-US" sz="1600" dirty="0"/>
              <a:t>Aggregated weather data is cached as JSON to improve dashboard speed.</a:t>
            </a:r>
            <a:br>
              <a:rPr lang="en-US" sz="1600" dirty="0"/>
            </a:br>
            <a:r>
              <a:rPr lang="en-US" sz="1600" dirty="0"/>
              <a:t>Redis uses a defined TTL (e.g., 600 seconds), ensuring data freshness and avoiding repeated heavy </a:t>
            </a:r>
            <a:r>
              <a:rPr lang="en-US" sz="1600" dirty="0" err="1"/>
              <a:t>ClickHouse</a:t>
            </a:r>
            <a:r>
              <a:rPr lang="en-US" sz="1600" dirty="0"/>
              <a:t> queries.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61118" y="2180470"/>
            <a:ext cx="13925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CFD0D8"/>
                </a:solidFill>
                <a:latin typeface="Arial MT"/>
                <a:cs typeface="Arial MT"/>
              </a:rPr>
              <a:t>Dashboard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87807" y="2648028"/>
            <a:ext cx="4546354" cy="168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37300"/>
              </a:lnSpc>
              <a:spcBef>
                <a:spcPts val="100"/>
              </a:spcBef>
            </a:pPr>
            <a:r>
              <a:rPr lang="en-US" sz="1600" dirty="0"/>
              <a:t>A local dashboard displays rainfall and temperature trends using Chart.js.</a:t>
            </a:r>
            <a:br>
              <a:rPr lang="en-US" sz="1600" dirty="0"/>
            </a:br>
            <a:r>
              <a:rPr lang="en-US" sz="1600" dirty="0"/>
              <a:t>The UI reads first from Redis, falling back to </a:t>
            </a:r>
            <a:r>
              <a:rPr lang="en-US" sz="1600" dirty="0" err="1"/>
              <a:t>ClickHouse</a:t>
            </a:r>
            <a:r>
              <a:rPr lang="en-US" sz="1600" dirty="0"/>
              <a:t> if the cache </a:t>
            </a:r>
            <a:r>
              <a:rPr lang="en-US" sz="1600" dirty="0" err="1"/>
              <a:t>expires.Sync</a:t>
            </a:r>
            <a:r>
              <a:rPr lang="en-US" sz="1600" dirty="0"/>
              <a:t>/freshness metadata appears on the dashboard for transparency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590" cy="2741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2741056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810" y="0"/>
            <a:ext cx="14626590" cy="274105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440" y="783770"/>
            <a:ext cx="1215771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8265" algn="ctr" defTabSz="457200"/>
            <a:r>
              <a:rPr lang="en-US" sz="5300">
                <a:solidFill>
                  <a:srgbClr val="FFFFFF"/>
                </a:solidFill>
              </a:rPr>
              <a:t>What</a:t>
            </a:r>
            <a:r>
              <a:rPr lang="en-US" sz="5300" spc="-125">
                <a:solidFill>
                  <a:srgbClr val="FFFFFF"/>
                </a:solidFill>
              </a:rPr>
              <a:t> </a:t>
            </a:r>
            <a:r>
              <a:rPr lang="en-US" sz="5300">
                <a:solidFill>
                  <a:srgbClr val="FFFFFF"/>
                </a:solidFill>
              </a:rPr>
              <a:t>Went</a:t>
            </a:r>
            <a:r>
              <a:rPr lang="en-US" sz="5300" spc="-120">
                <a:solidFill>
                  <a:srgbClr val="FFFFFF"/>
                </a:solidFill>
              </a:rPr>
              <a:t> </a:t>
            </a:r>
            <a:r>
              <a:rPr lang="en-US" sz="5300" spc="-20">
                <a:solidFill>
                  <a:srgbClr val="FFFFFF"/>
                </a:solidFill>
              </a:rPr>
              <a:t>Well</a:t>
            </a:r>
            <a:endParaRPr lang="en-US" sz="5300">
              <a:solidFill>
                <a:srgbClr val="FFFFFF"/>
              </a:solidFill>
            </a:endParaRPr>
          </a:p>
        </p:txBody>
      </p:sp>
      <p:graphicFrame>
        <p:nvGraphicFramePr>
          <p:cNvPr id="34" name="object 16">
            <a:extLst>
              <a:ext uri="{FF2B5EF4-FFF2-40B4-BE49-F238E27FC236}">
                <a16:creationId xmlns:a16="http://schemas.microsoft.com/office/drawing/2014/main" id="{F83581AF-1B06-7BD7-7B50-AA43B23B9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758714"/>
              </p:ext>
            </p:extLst>
          </p:nvPr>
        </p:nvGraphicFramePr>
        <p:xfrm>
          <a:off x="1234440" y="3291840"/>
          <a:ext cx="1215771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7ED7565-681C-3CAE-8968-D74AD615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6549" y="766916"/>
            <a:ext cx="7911690" cy="1934988"/>
          </a:xfrm>
        </p:spPr>
        <p:txBody>
          <a:bodyPr>
            <a:normAutofit/>
          </a:bodyPr>
          <a:lstStyle/>
          <a:p>
            <a:r>
              <a:rPr lang="en-US" dirty="0" err="1"/>
              <a:t>tESTING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18" name="Picture 17" descr="Pipette adding DNA sample to a petri dish">
            <a:extLst>
              <a:ext uri="{FF2B5EF4-FFF2-40B4-BE49-F238E27FC236}">
                <a16:creationId xmlns:a16="http://schemas.microsoft.com/office/drawing/2014/main" id="{B3917407-726F-BCE6-37F5-984291B7E4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0" r="36190"/>
          <a:stretch>
            <a:fillRect/>
          </a:stretch>
        </p:blipFill>
        <p:spPr>
          <a:xfrm>
            <a:off x="20" y="1170"/>
            <a:ext cx="5563189" cy="82296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3524C3-1C5C-B67C-2A5D-A5088FE9F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6549" y="2701904"/>
            <a:ext cx="7911690" cy="4766678"/>
          </a:xfrm>
        </p:spPr>
        <p:txBody>
          <a:bodyPr>
            <a:normAutofit/>
          </a:bodyPr>
          <a:lstStyle/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Verified all ETL stages individually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API response validation for real-time &amp; historical data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MongoDB insert and enrichment testing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ClickHouse</a:t>
            </a:r>
            <a:r>
              <a:rPr lang="en-US" dirty="0"/>
              <a:t> table creation, row count, and aggregation testing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Redis key retrieval, TTL validation, and fallback testing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Dashboard rendering and API endpoint testing</a:t>
            </a:r>
          </a:p>
          <a:p>
            <a:pPr marL="355600" marR="508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flow tested multiple times after each fix</a:t>
            </a:r>
            <a:endParaRPr lang="en-US" spc="-10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951171" cy="82296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2961" y="772159"/>
            <a:ext cx="3108959" cy="599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defTabSz="457200">
              <a:tabLst>
                <a:tab pos="2271395" algn="l"/>
              </a:tabLst>
            </a:pPr>
            <a:r>
              <a:rPr lang="en-US" sz="3600" spc="-10" dirty="0">
                <a:solidFill>
                  <a:srgbClr val="FFFFFF"/>
                </a:solidFill>
              </a:rPr>
              <a:t>Technical</a:t>
            </a:r>
            <a:r>
              <a:rPr lang="en-US" sz="3600" dirty="0">
                <a:solidFill>
                  <a:srgbClr val="FFFFFF"/>
                </a:solidFill>
              </a:rPr>
              <a:t>	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spc="-10" dirty="0">
                <a:solidFill>
                  <a:srgbClr val="FFFFFF"/>
                </a:solidFill>
              </a:rPr>
              <a:t>Challenges</a:t>
            </a:r>
            <a:endParaRPr lang="en-US" sz="3600" dirty="0">
              <a:solidFill>
                <a:srgbClr val="FFFFFF"/>
              </a:solidFill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7937F89-0389-FF94-BA15-889DEDE1F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935780"/>
              </p:ext>
            </p:extLst>
          </p:nvPr>
        </p:nvGraphicFramePr>
        <p:xfrm>
          <a:off x="5770321" y="1082040"/>
          <a:ext cx="7854239" cy="5784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590" cy="2741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2741056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810" y="0"/>
            <a:ext cx="14626590" cy="274105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440" y="783770"/>
            <a:ext cx="1215771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457200"/>
            <a:r>
              <a:rPr lang="en-US" sz="5300">
                <a:solidFill>
                  <a:srgbClr val="FFFFFF"/>
                </a:solidFill>
              </a:rPr>
              <a:t>Lessons</a:t>
            </a:r>
            <a:r>
              <a:rPr lang="en-US" sz="5300" spc="-15">
                <a:solidFill>
                  <a:srgbClr val="FFFFFF"/>
                </a:solidFill>
              </a:rPr>
              <a:t> </a:t>
            </a:r>
            <a:r>
              <a:rPr lang="en-US" sz="5300" spc="-10">
                <a:solidFill>
                  <a:srgbClr val="FFFFFF"/>
                </a:solidFill>
              </a:rPr>
              <a:t>Learned</a:t>
            </a:r>
            <a:endParaRPr lang="en-US" sz="5300">
              <a:solidFill>
                <a:srgbClr val="FFFFFF"/>
              </a:solidFill>
            </a:endParaRPr>
          </a:p>
        </p:txBody>
      </p:sp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04294B42-B593-7593-65F0-CE99AA02F5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002863"/>
              </p:ext>
            </p:extLst>
          </p:nvPr>
        </p:nvGraphicFramePr>
        <p:xfrm>
          <a:off x="1234440" y="3291840"/>
          <a:ext cx="1215771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590" cy="2741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2741056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810" y="0"/>
            <a:ext cx="14626590" cy="274105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4440" y="783770"/>
            <a:ext cx="1215771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defTabSz="457200"/>
            <a:r>
              <a:rPr lang="en-US" sz="5300">
                <a:solidFill>
                  <a:srgbClr val="FFFFFF"/>
                </a:solidFill>
              </a:rPr>
              <a:t>Conclusion</a:t>
            </a:r>
            <a:r>
              <a:rPr lang="en-US" sz="5300" spc="-40">
                <a:solidFill>
                  <a:srgbClr val="FFFFFF"/>
                </a:solidFill>
              </a:rPr>
              <a:t> </a:t>
            </a:r>
            <a:r>
              <a:rPr lang="en-US" sz="5300">
                <a:solidFill>
                  <a:srgbClr val="FFFFFF"/>
                </a:solidFill>
              </a:rPr>
              <a:t>&amp;</a:t>
            </a:r>
            <a:r>
              <a:rPr lang="en-US" sz="5300" spc="-40">
                <a:solidFill>
                  <a:srgbClr val="FFFFFF"/>
                </a:solidFill>
              </a:rPr>
              <a:t> </a:t>
            </a:r>
            <a:r>
              <a:rPr lang="en-US" sz="5300">
                <a:solidFill>
                  <a:srgbClr val="FFFFFF"/>
                </a:solidFill>
              </a:rPr>
              <a:t>Future</a:t>
            </a:r>
            <a:r>
              <a:rPr lang="en-US" sz="5300" spc="-40">
                <a:solidFill>
                  <a:srgbClr val="FFFFFF"/>
                </a:solidFill>
              </a:rPr>
              <a:t> </a:t>
            </a:r>
            <a:r>
              <a:rPr lang="en-US" sz="5300" spc="-20">
                <a:solidFill>
                  <a:srgbClr val="FFFFFF"/>
                </a:solidFill>
              </a:rPr>
              <a:t>Work</a:t>
            </a:r>
            <a:endParaRPr lang="en-US" sz="5300">
              <a:solidFill>
                <a:srgbClr val="FFFFFF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47C3468-ACD6-7E2C-980B-C2BBEEE0A9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191694"/>
              </p:ext>
            </p:extLst>
          </p:nvPr>
        </p:nvGraphicFramePr>
        <p:xfrm>
          <a:off x="1234440" y="3291840"/>
          <a:ext cx="1215771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98</TotalTime>
  <Words>756</Words>
  <Application>Microsoft Office PowerPoint</Application>
  <PresentationFormat>Custom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Arial MT</vt:lpstr>
      <vt:lpstr>Calibri</vt:lpstr>
      <vt:lpstr>Calibri Light</vt:lpstr>
      <vt:lpstr>Wingdings 3</vt:lpstr>
      <vt:lpstr>Celestial</vt:lpstr>
      <vt:lpstr>        Final Presentation        Team name: Team_self</vt:lpstr>
      <vt:lpstr>Project Overview</vt:lpstr>
      <vt:lpstr>Pipeline Breakdown</vt:lpstr>
      <vt:lpstr>What Went Well</vt:lpstr>
      <vt:lpstr>tESTING:</vt:lpstr>
      <vt:lpstr>Technical  Challenges</vt:lpstr>
      <vt:lpstr>Lessons Learned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Team-Epic-Final-Presentation (2)</dc:title>
  <cp:lastModifiedBy>Durgabai Dandothkar</cp:lastModifiedBy>
  <cp:revision>4</cp:revision>
  <dcterms:created xsi:type="dcterms:W3CDTF">2025-12-01T05:23:05Z</dcterms:created>
  <dcterms:modified xsi:type="dcterms:W3CDTF">2025-12-03T22:56:05Z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Keynote</vt:lpwstr>
  </property>
  <property fmtid="{D5CDD505-2E9C-101B-9397-08002B2CF9AE}" pid="4" name="LastSaved">
    <vt:filetime>2025-12-01T00:00:00Z</vt:filetime>
  </property>
  <property fmtid="{D5CDD505-2E9C-101B-9397-08002B2CF9AE}" pid="5" name="Producer">
    <vt:lpwstr>macOS Version 15.4.1 (Build 24E263) Quartz PDFContext</vt:lpwstr>
  </property>
</Properties>
</file>