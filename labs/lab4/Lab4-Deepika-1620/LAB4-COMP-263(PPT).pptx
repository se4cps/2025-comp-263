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219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286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8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903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359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913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804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945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970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213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8949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971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8254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49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886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865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7A2E0-F142-4A69-918D-7B35A23DA10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0915D94-0BA3-42A9-B0C8-ABDBC3157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65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33B61-0916-5B2E-336F-40826DE6F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6057"/>
            <a:ext cx="9144000" cy="1573618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 &amp; ETL Data Flow (Redis → MongoDB)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05DE0-DB71-611A-39C2-11C9C9A15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1692" y="2179675"/>
            <a:ext cx="8286307" cy="4455041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Architecture Overview:</a:t>
            </a:r>
          </a:p>
          <a:p>
            <a:pPr algn="l"/>
            <a:r>
              <a:rPr lang="en-US" b="1" dirty="0"/>
              <a:t>Data Sources:</a:t>
            </a:r>
            <a:r>
              <a:rPr lang="en-US" dirty="0"/>
              <a:t> IoT sensors / APIs generate readings.</a:t>
            </a:r>
          </a:p>
          <a:p>
            <a:pPr algn="l"/>
            <a:r>
              <a:rPr lang="en-IN" b="1" dirty="0"/>
              <a:t>ETL Flow</a:t>
            </a:r>
            <a:r>
              <a:rPr lang="en-IN" dirty="0"/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Extract:</a:t>
            </a:r>
            <a:r>
              <a:rPr lang="en-IN" dirty="0"/>
              <a:t> Sensor data is captured via Node.js server.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Transform:</a:t>
            </a:r>
            <a:r>
              <a:rPr lang="en-US" dirty="0"/>
              <a:t> Data formatted into JSON with fields – </a:t>
            </a:r>
            <a:r>
              <a:rPr lang="en-US" dirty="0" err="1"/>
              <a:t>sensorId</a:t>
            </a:r>
            <a:r>
              <a:rPr lang="en-US" dirty="0"/>
              <a:t>, reading, unit, </a:t>
            </a:r>
            <a:r>
              <a:rPr lang="en-US" dirty="0" err="1"/>
              <a:t>updatedAt</a:t>
            </a:r>
            <a:r>
              <a:rPr lang="en-US" dirty="0"/>
              <a:t>, </a:t>
            </a:r>
            <a:r>
              <a:rPr lang="en-US" dirty="0" err="1"/>
              <a:t>meta.author</a:t>
            </a:r>
            <a:r>
              <a:rPr lang="en-US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Load:</a:t>
            </a:r>
            <a:endParaRPr lang="en-US" dirty="0"/>
          </a:p>
          <a:p>
            <a:pPr marL="457200" indent="-457200" algn="l">
              <a:buFont typeface="+mj-lt"/>
              <a:buAutoNum type="arabicPeriod"/>
            </a:pPr>
            <a:r>
              <a:rPr lang="en-US" b="1" dirty="0"/>
              <a:t>Redis Cache Layer:</a:t>
            </a:r>
            <a:r>
              <a:rPr lang="en-US" dirty="0"/>
              <a:t> Stores frequently accessed readings for fast lookup.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1" dirty="0"/>
              <a:t>MongoDB Atlas:</a:t>
            </a:r>
            <a:r>
              <a:rPr lang="en-US" dirty="0"/>
              <a:t> Acts as the data lake for long-term storage and analytics.</a:t>
            </a:r>
          </a:p>
          <a:p>
            <a:pPr algn="l"/>
            <a:r>
              <a:rPr lang="en-IN" b="1" dirty="0"/>
              <a:t>Integration: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Cache-aside strategy used — data fetched from Redis; if missing, pulled from MongoDB and cached.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ETL/Cache refresh occurs periodically or on data updates.</a:t>
            </a:r>
            <a:endParaRPr lang="en-IN" b="1" dirty="0"/>
          </a:p>
          <a:p>
            <a:pPr algn="l"/>
            <a:endParaRPr lang="en-US" b="1" dirty="0"/>
          </a:p>
          <a:p>
            <a:pPr algn="l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58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C07-A12D-D25E-9CA8-7CA463115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71240-7727-D0AD-C133-9C5332E32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Improved Performance:</a:t>
            </a:r>
            <a:r>
              <a:rPr lang="en-IN" dirty="0"/>
              <a:t> Redis dramatically reduced read latency for frequent queries.</a:t>
            </a:r>
            <a:br>
              <a:rPr lang="en-IN" dirty="0"/>
            </a:br>
            <a:r>
              <a:rPr lang="en-IN" b="1" dirty="0"/>
              <a:t>Scalable Design:</a:t>
            </a:r>
            <a:r>
              <a:rPr lang="en-IN" dirty="0"/>
              <a:t> Decoupling cache and database improved throughput under load.</a:t>
            </a:r>
            <a:br>
              <a:rPr lang="en-IN" dirty="0"/>
            </a:br>
            <a:r>
              <a:rPr lang="en-IN" b="1" dirty="0"/>
              <a:t>Hands-on with ETL:</a:t>
            </a:r>
            <a:r>
              <a:rPr lang="en-IN" dirty="0"/>
              <a:t> Gained practical experience building Extract–Transform–Load pipelines between in-memory and persistent layers.</a:t>
            </a:r>
            <a:br>
              <a:rPr lang="en-IN" dirty="0"/>
            </a:br>
            <a:r>
              <a:rPr lang="en-IN" b="1" dirty="0"/>
              <a:t>Monitoring Importance:</a:t>
            </a:r>
            <a:r>
              <a:rPr lang="en-IN" dirty="0"/>
              <a:t> Learned to measure cache hit/miss ratio and TTL performance.</a:t>
            </a:r>
            <a:br>
              <a:rPr lang="en-IN" dirty="0"/>
            </a:br>
            <a:r>
              <a:rPr lang="en-IN" b="1" dirty="0"/>
              <a:t>Data Consistency:</a:t>
            </a:r>
            <a:r>
              <a:rPr lang="en-IN" dirty="0"/>
              <a:t> Understood trade-offs between immediate consistency vs eventual sync in cache refresh cycles.</a:t>
            </a:r>
          </a:p>
        </p:txBody>
      </p:sp>
    </p:spTree>
    <p:extLst>
      <p:ext uri="{BB962C8B-B14F-4D97-AF65-F5344CB8AC3E}">
        <p14:creationId xmlns:p14="http://schemas.microsoft.com/office/powerpoint/2010/main" val="1031641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D3D4A-866B-C0C3-C967-53054EB71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&amp;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2C6B5-A685-4AA8-EB86-C66E80C13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What Worked Well:</a:t>
            </a:r>
            <a:endParaRPr lang="en-IN" dirty="0"/>
          </a:p>
          <a:p>
            <a:r>
              <a:rPr lang="en-IN" dirty="0"/>
              <a:t>Redis integration using Node.js client was seamless.</a:t>
            </a:r>
          </a:p>
          <a:p>
            <a:r>
              <a:rPr lang="en-IN" dirty="0"/>
              <a:t>TTL-based expiration ensured cache freshness.</a:t>
            </a:r>
          </a:p>
          <a:p>
            <a:r>
              <a:rPr lang="en-IN" dirty="0"/>
              <a:t>MongoDB Compass helped validate stored readings and metadata</a:t>
            </a:r>
          </a:p>
          <a:p>
            <a:pPr marL="0" indent="0">
              <a:buNone/>
            </a:pPr>
            <a:r>
              <a:rPr lang="en-IN" b="1" dirty="0"/>
              <a:t>What Did Not Work Well:</a:t>
            </a:r>
            <a:endParaRPr lang="en-IN" dirty="0"/>
          </a:p>
          <a:p>
            <a:r>
              <a:rPr lang="en-IN" dirty="0"/>
              <a:t>Handling cache invalidation when updates occurred simultaneously.</a:t>
            </a:r>
          </a:p>
          <a:p>
            <a:r>
              <a:rPr lang="en-IN" dirty="0"/>
              <a:t>Difficulty managing Redis memory limits (eviction policies).</a:t>
            </a:r>
          </a:p>
          <a:p>
            <a:r>
              <a:rPr lang="en-IN" dirty="0"/>
              <a:t>Maintaining consistent timestamps between Redis and MongoDB.</a:t>
            </a:r>
          </a:p>
          <a:p>
            <a:pPr marL="0" indent="0">
              <a:buNone/>
            </a:pPr>
            <a:r>
              <a:rPr lang="en-IN" b="1" dirty="0"/>
              <a:t>Next Steps / Improvements:</a:t>
            </a:r>
            <a:endParaRPr lang="en-IN" dirty="0"/>
          </a:p>
          <a:p>
            <a:r>
              <a:rPr lang="en-IN" dirty="0"/>
              <a:t>Automate cache invalidation triggers via pub/sub.</a:t>
            </a:r>
          </a:p>
          <a:p>
            <a:r>
              <a:rPr lang="en-IN" dirty="0"/>
              <a:t>Implement Redis Cluster for scaling.</a:t>
            </a:r>
          </a:p>
          <a:p>
            <a:r>
              <a:rPr lang="en-IN" dirty="0"/>
              <a:t>Add monitoring dashboard for ETL performance metrics.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887313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8fa7b21-ab88-411d-9e0c-daee3c443a9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B36D16E34F2843A7883E8E1B450AEC" ma:contentTypeVersion="11" ma:contentTypeDescription="Create a new document." ma:contentTypeScope="" ma:versionID="0d7ff65e326932f350e0768127da0448">
  <xsd:schema xmlns:xsd="http://www.w3.org/2001/XMLSchema" xmlns:xs="http://www.w3.org/2001/XMLSchema" xmlns:p="http://schemas.microsoft.com/office/2006/metadata/properties" xmlns:ns3="68fa7b21-ab88-411d-9e0c-daee3c443a94" targetNamespace="http://schemas.microsoft.com/office/2006/metadata/properties" ma:root="true" ma:fieldsID="f13f4f28a7fca703f90cd75cb7ee753f" ns3:_="">
    <xsd:import namespace="68fa7b21-ab88-411d-9e0c-daee3c443a9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fa7b21-ab88-411d-9e0c-daee3c443a9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7D471D-4CB0-45FA-B58A-67BE7D43F8F2}">
  <ds:schemaRefs>
    <ds:schemaRef ds:uri="http://purl.org/dc/elements/1.1/"/>
    <ds:schemaRef ds:uri="http://schemas.microsoft.com/office/2006/documentManagement/types"/>
    <ds:schemaRef ds:uri="http://purl.org/dc/terms/"/>
    <ds:schemaRef ds:uri="68fa7b21-ab88-411d-9e0c-daee3c443a94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69CC025-983C-4B49-986F-3255CBE0CA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2B34C1-F5B5-4015-B65B-0D9035BC14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fa7b21-ab88-411d-9e0c-daee3c443a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</TotalTime>
  <Words>289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Wisp</vt:lpstr>
      <vt:lpstr>Architecture &amp; ETL Data Flow (Redis → MongoDB)</vt:lpstr>
      <vt:lpstr>Lessons Learned</vt:lpstr>
      <vt:lpstr>Challenges &amp; Observations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Deepika Jakati</dc:creator>
  <cp:lastModifiedBy>Deepika Jakati</cp:lastModifiedBy>
  <cp:revision>1</cp:revision>
  <dcterms:created xsi:type="dcterms:W3CDTF">2025-11-06T02:57:23Z</dcterms:created>
  <dcterms:modified xsi:type="dcterms:W3CDTF">2025-11-06T05:37:26Z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0x01010073B36D16E34F2843A7883E8E1B450AEC</vt:lpwstr>
  </property>
</Properties>
</file>